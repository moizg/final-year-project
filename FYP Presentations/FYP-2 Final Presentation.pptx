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7559675" cy="10691800"/>
  <p:embeddedFontLst>
    <p:embeddedFont>
      <p:font typeface="Century Schoolbook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enturySchoolbook-bold.fntdata"/><Relationship Id="rId10" Type="http://schemas.openxmlformats.org/officeDocument/2006/relationships/slide" Target="slides/slide5.xml"/><Relationship Id="rId32" Type="http://schemas.openxmlformats.org/officeDocument/2006/relationships/font" Target="fonts/CenturySchoolbook-regular.fntdata"/><Relationship Id="rId13" Type="http://schemas.openxmlformats.org/officeDocument/2006/relationships/slide" Target="slides/slide8.xml"/><Relationship Id="rId35" Type="http://schemas.openxmlformats.org/officeDocument/2006/relationships/font" Target="fonts/CenturySchoolbook-boldItalic.fntdata"/><Relationship Id="rId12" Type="http://schemas.openxmlformats.org/officeDocument/2006/relationships/slide" Target="slides/slide7.xml"/><Relationship Id="rId34" Type="http://schemas.openxmlformats.org/officeDocument/2006/relationships/font" Target="fonts/CenturySchoolbook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b97b24151_0_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b97b24151_0_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cb83cf13d_1_20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cb83cf13d_1_20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cb83cf13d_1_19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acb83cf13d_1_19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b97b24151_0_6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ab97b24151_0_6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cb83cf13d_1_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cb83cf13d_1_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cb83cf13d_1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cb83cf13d_1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cb83cf13d_1_1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acb83cf13d_1_1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cb83cf13d_1_1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acb83cf13d_1_1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b97b24151_0_7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ab97b24151_0_7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b97b24151_0_8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ab97b24151_0_8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8047fdafa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8047fdafa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4cd7f7247_0_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c4cd7f7247_0_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ae4cfdd30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cae4cfdd30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ae4cfdd30_0_5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cae4cfdd30_0_5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ae4cfdd30_0_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cae4cfdd30_0_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ae4cfdd30_0_3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cae4cfdd30_0_3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ae4cfdd30_0_4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cae4cfdd30_0_4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c9321c835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cc9321c835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5aa576266_0_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95aa576266_0_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5aa576266_0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95aa576266_0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cb83cf13d_1_2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acb83cf13d_1_2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b97b24151_0_8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ab97b24151_0_8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609480" y="273600"/>
            <a:ext cx="10972500" cy="53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609480" y="160452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60948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31964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802980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60948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431964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802980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idx="1" type="subTitle"/>
          </p:nvPr>
        </p:nvSpPr>
        <p:spPr>
          <a:xfrm>
            <a:off x="609480" y="273600"/>
            <a:ext cx="10972500" cy="53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3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3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609480" y="160452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2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4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60948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2" type="body"/>
          </p:nvPr>
        </p:nvSpPr>
        <p:spPr>
          <a:xfrm>
            <a:off x="431964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3" type="body"/>
          </p:nvPr>
        </p:nvSpPr>
        <p:spPr>
          <a:xfrm>
            <a:off x="802980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4" type="body"/>
          </p:nvPr>
        </p:nvSpPr>
        <p:spPr>
          <a:xfrm>
            <a:off x="60948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5" type="body"/>
          </p:nvPr>
        </p:nvSpPr>
        <p:spPr>
          <a:xfrm>
            <a:off x="431964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6" type="body"/>
          </p:nvPr>
        </p:nvSpPr>
        <p:spPr>
          <a:xfrm>
            <a:off x="802980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43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455400" cy="68562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idx="11" type="ftr"/>
          </p:nvPr>
        </p:nvSpPr>
        <p:spPr>
          <a:xfrm rot="-5400000">
            <a:off x="9959370" y="4048470"/>
            <a:ext cx="35796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 rot="-5400000">
            <a:off x="10797570" y="1000470"/>
            <a:ext cx="19032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11292840" y="0"/>
            <a:ext cx="912600" cy="68562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 rot="-5400000">
            <a:off x="9959370" y="4048470"/>
            <a:ext cx="35796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0" type="dt"/>
          </p:nvPr>
        </p:nvSpPr>
        <p:spPr>
          <a:xfrm rot="-5400000">
            <a:off x="10797570" y="1000470"/>
            <a:ext cx="19032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437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ational University of Computer and Emerging Sciences - Wikipedia" id="119" name="Google Shape;1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045" y="347205"/>
            <a:ext cx="1470600" cy="14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7"/>
          <p:cNvSpPr/>
          <p:nvPr/>
        </p:nvSpPr>
        <p:spPr>
          <a:xfrm>
            <a:off x="1261800" y="264300"/>
            <a:ext cx="10593900" cy="40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</a:rPr>
              <a:t>GameFlow Traffic Control (GTC)</a:t>
            </a:r>
            <a:r>
              <a:rPr lang="en-US" sz="4800" strike="noStrike">
                <a:solidFill>
                  <a:srgbClr val="FFFFFF"/>
                </a:solidFill>
              </a:rPr>
              <a:t> </a:t>
            </a:r>
            <a:br>
              <a:rPr lang="en-US" sz="1800"/>
            </a:br>
            <a:r>
              <a:rPr lang="en-US" sz="2400" strike="noStrike">
                <a:solidFill>
                  <a:srgbClr val="FFFFFF"/>
                </a:solidFill>
              </a:rPr>
              <a:t>A Game Theory Approach To Traffic Si</a:t>
            </a:r>
            <a:r>
              <a:rPr lang="en-US" sz="2400">
                <a:solidFill>
                  <a:srgbClr val="FFFFFF"/>
                </a:solidFill>
              </a:rPr>
              <a:t>gnal Optimization</a:t>
            </a:r>
            <a:br>
              <a:rPr lang="en-US" sz="1800"/>
            </a:br>
            <a:br>
              <a:rPr lang="en-US" sz="1800"/>
            </a:br>
            <a:br>
              <a:rPr lang="en-US" sz="1800"/>
            </a:br>
            <a:r>
              <a:rPr lang="en-US" sz="1800"/>
              <a:t> </a:t>
            </a:r>
            <a:endParaRPr sz="2400" strike="noStrike"/>
          </a:p>
        </p:txBody>
      </p:sp>
      <p:sp>
        <p:nvSpPr>
          <p:cNvPr id="121" name="Google Shape;121;p27"/>
          <p:cNvSpPr/>
          <p:nvPr/>
        </p:nvSpPr>
        <p:spPr>
          <a:xfrm>
            <a:off x="1261800" y="4305600"/>
            <a:ext cx="53157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Group Members</a:t>
            </a:r>
            <a:endParaRPr sz="2200" strike="noStrike"/>
          </a:p>
          <a:p>
            <a:pPr indent="0" lvl="0" marL="0" marR="0" rtl="0" algn="l">
              <a:lnSpc>
                <a:spcPct val="9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Syed Subhan Shah </a:t>
            </a:r>
            <a:r>
              <a:rPr lang="en-US" sz="2200">
                <a:solidFill>
                  <a:srgbClr val="BFBFBF"/>
                </a:solidFill>
              </a:rPr>
              <a:t>Bukhari</a:t>
            </a:r>
            <a:r>
              <a:rPr lang="en-US" sz="2200" strike="noStrike">
                <a:solidFill>
                  <a:srgbClr val="BFBFBF"/>
                </a:solidFill>
              </a:rPr>
              <a:t> (22P-9447)</a:t>
            </a:r>
            <a:endParaRPr sz="2200" strike="noStrike"/>
          </a:p>
          <a:p>
            <a:pPr indent="0" lvl="0" marL="0" marR="0" rtl="0" algn="l">
              <a:lnSpc>
                <a:spcPct val="9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Maaz Mustafa (22P-9405)</a:t>
            </a:r>
            <a:endParaRPr sz="2200" strike="noStrike"/>
          </a:p>
          <a:p>
            <a:pPr indent="0" lvl="0" marL="0" marR="0" rtl="0" algn="l">
              <a:lnSpc>
                <a:spcPct val="9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Moiz Ghazanfar(22P-9425)</a:t>
            </a:r>
            <a:endParaRPr sz="2200" strike="noStrike"/>
          </a:p>
        </p:txBody>
      </p:sp>
      <p:sp>
        <p:nvSpPr>
          <p:cNvPr id="122" name="Google Shape;122;p27"/>
          <p:cNvSpPr/>
          <p:nvPr/>
        </p:nvSpPr>
        <p:spPr>
          <a:xfrm>
            <a:off x="7156720" y="4305588"/>
            <a:ext cx="48669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Project Supervisor</a:t>
            </a:r>
            <a:endParaRPr sz="2200" strike="noStrike"/>
          </a:p>
          <a:p>
            <a:pPr indent="0" lvl="0" marL="0" marR="0" rtl="0" algn="l">
              <a:lnSpc>
                <a:spcPct val="9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BFBFBF"/>
                </a:solidFill>
              </a:rPr>
              <a:t>Mr. Usama Musharaf</a:t>
            </a:r>
            <a:endParaRPr b="1" sz="2200" strike="noStrike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/>
        </p:nvSpPr>
        <p:spPr>
          <a:xfrm>
            <a:off x="682920" y="571590"/>
            <a:ext cx="9690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Table of content</a:t>
            </a:r>
            <a:endParaRPr sz="4000" strike="noStrike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128" name="Google Shape;1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0185" y="177990"/>
            <a:ext cx="1470600" cy="14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8"/>
          <p:cNvSpPr txBox="1"/>
          <p:nvPr/>
        </p:nvSpPr>
        <p:spPr>
          <a:xfrm>
            <a:off x="11292840" y="6172200"/>
            <a:ext cx="912600" cy="5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0" name="Google Shape;130;p28"/>
          <p:cNvSpPr/>
          <p:nvPr/>
        </p:nvSpPr>
        <p:spPr>
          <a:xfrm>
            <a:off x="6613920" y="6088320"/>
            <a:ext cx="3234960" cy="3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8"/>
          <p:cNvSpPr txBox="1"/>
          <p:nvPr/>
        </p:nvSpPr>
        <p:spPr>
          <a:xfrm>
            <a:off x="682920" y="1562400"/>
            <a:ext cx="6212100" cy="52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Problem Statement</a:t>
            </a:r>
            <a:endParaRPr sz="2000" strike="noStrike">
              <a:solidFill>
                <a:schemeClr val="lt1"/>
              </a:solidFill>
            </a:endParaRPr>
          </a:p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Literature Review</a:t>
            </a:r>
            <a:endParaRPr sz="2000">
              <a:solidFill>
                <a:schemeClr val="lt1"/>
              </a:solidFill>
            </a:endParaRPr>
          </a:p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Diagrams</a:t>
            </a:r>
            <a:endParaRPr sz="2000">
              <a:solidFill>
                <a:schemeClr val="lt1"/>
              </a:solidFill>
            </a:endParaRPr>
          </a:p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SUMO &amp; TraCi</a:t>
            </a:r>
            <a:endParaRPr sz="2000">
              <a:solidFill>
                <a:schemeClr val="lt1"/>
              </a:solidFill>
            </a:endParaRPr>
          </a:p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Demo and Results Version 01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Demo and Results Version 02</a:t>
            </a:r>
            <a:endParaRPr sz="2000" strike="noStrike">
              <a:solidFill>
                <a:schemeClr val="lt1"/>
              </a:solidFill>
            </a:endParaRPr>
          </a:p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Application Prototype</a:t>
            </a:r>
            <a:endParaRPr sz="2000" strike="noStrike">
              <a:solidFill>
                <a:schemeClr val="lt1"/>
              </a:solidFill>
            </a:endParaRPr>
          </a:p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 strike="noStrike">
                <a:solidFill>
                  <a:schemeClr val="lt1"/>
                </a:solidFill>
              </a:rPr>
              <a:t>References</a:t>
            </a:r>
            <a:endParaRPr sz="2000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/>
        </p:nvSpPr>
        <p:spPr>
          <a:xfrm>
            <a:off x="800280" y="910045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Problem Statement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137" name="Google Shape;137;p29"/>
          <p:cNvSpPr txBox="1"/>
          <p:nvPr/>
        </p:nvSpPr>
        <p:spPr>
          <a:xfrm>
            <a:off x="360530" y="1988275"/>
            <a:ext cx="53355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strike="noStrike">
                <a:solidFill>
                  <a:schemeClr val="lt1"/>
                </a:solidFill>
              </a:rPr>
              <a:t>“Conventional traffic signals use fixed-time cycles, which are inefficient a</a:t>
            </a:r>
            <a:r>
              <a:rPr lang="en-US" sz="2400">
                <a:solidFill>
                  <a:schemeClr val="lt1"/>
                </a:solidFill>
              </a:rPr>
              <a:t>s they</a:t>
            </a:r>
            <a:r>
              <a:rPr lang="en-US" sz="2400" strike="noStrike">
                <a:solidFill>
                  <a:schemeClr val="lt1"/>
                </a:solidFill>
              </a:rPr>
              <a:t> cannot adapt to real-time traffic fluctuations, leading to unnecessary congestion and long delays.”</a:t>
            </a:r>
            <a:endParaRPr sz="2400" strike="noStrike">
              <a:solidFill>
                <a:schemeClr val="lt1"/>
              </a:solidFill>
            </a:endParaRPr>
          </a:p>
        </p:txBody>
      </p:sp>
      <p:sp>
        <p:nvSpPr>
          <p:cNvPr id="138" name="Google Shape;138;p29"/>
          <p:cNvSpPr txBox="1"/>
          <p:nvPr/>
        </p:nvSpPr>
        <p:spPr>
          <a:xfrm>
            <a:off x="11292840" y="6172200"/>
            <a:ext cx="912600" cy="5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/Users/Subha/OneDrive/Desktop/slide3.jpgslide3" id="139" name="Google Shape;139;p29"/>
          <p:cNvPicPr preferRelativeResize="0"/>
          <p:nvPr/>
        </p:nvPicPr>
        <p:blipFill rotWithShape="1">
          <a:blip r:embed="rId3">
            <a:alphaModFix/>
          </a:blip>
          <a:srcRect b="0" l="13634" r="13634" t="0"/>
          <a:stretch/>
        </p:blipFill>
        <p:spPr>
          <a:xfrm>
            <a:off x="6070555" y="1588655"/>
            <a:ext cx="4637880" cy="424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140" name="Google Shape;14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8385" y="118040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/>
        </p:nvSpPr>
        <p:spPr>
          <a:xfrm>
            <a:off x="307805" y="269870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Literature Review: Performance Evaluation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146" name="Google Shape;146;p30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" name="Google Shape;147;p30" title="Screenshot 2025-12-02 213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800" y="948475"/>
            <a:ext cx="9690900" cy="541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148" name="Google Shape;14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/>
        </p:nvSpPr>
        <p:spPr>
          <a:xfrm>
            <a:off x="180150" y="196900"/>
            <a:ext cx="104925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Literature Review: Performance Comparison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154" name="Google Shape;154;p31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149" y="1009174"/>
            <a:ext cx="9979200" cy="54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156" name="Google Shape;15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/>
        </p:nvSpPr>
        <p:spPr>
          <a:xfrm>
            <a:off x="362530" y="251620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</a:rPr>
              <a:t>The ‘Black Box’ Problem</a:t>
            </a:r>
            <a:endParaRPr b="1" sz="2500" strike="noStrike">
              <a:solidFill>
                <a:schemeClr val="lt1"/>
              </a:solidFill>
            </a:endParaRPr>
          </a:p>
        </p:txBody>
      </p:sp>
      <p:sp>
        <p:nvSpPr>
          <p:cNvPr id="162" name="Google Shape;162;p32"/>
          <p:cNvSpPr txBox="1"/>
          <p:nvPr/>
        </p:nvSpPr>
        <p:spPr>
          <a:xfrm>
            <a:off x="362525" y="1136400"/>
            <a:ext cx="10690500" cy="50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Reinforcement Learning: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lt1"/>
                </a:solidFill>
              </a:rPr>
              <a:t>“Complex and opaque neural networks hard to understand and debug"</a:t>
            </a:r>
            <a:r>
              <a:rPr lang="en-US" sz="2100">
                <a:solidFill>
                  <a:schemeClr val="lt1"/>
                </a:solidFill>
              </a:rPr>
              <a:t> (Chen et al., 2022)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Cannot explain why a decision was made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Safety-critical systems require transparency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Genetic Algorithms: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lt1"/>
                </a:solidFill>
              </a:rPr>
              <a:t>"Survival of the fittest"</a:t>
            </a:r>
            <a:r>
              <a:rPr lang="en-US" sz="2100">
                <a:solidFill>
                  <a:schemeClr val="lt1"/>
                </a:solidFill>
              </a:rPr>
              <a:t> is not an engineering explanation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No clear decision logic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Difficult to validate and tune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Game Theory: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Clear payoff functions: U = -(α·Wait + β·Delay + γ·Queue)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Engineers understand WHY decisions are made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Easy to validate and adjust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63" name="Google Shape;163;p32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64" name="Google Shape;1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/>
        </p:nvSpPr>
        <p:spPr>
          <a:xfrm>
            <a:off x="800280" y="488745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</a:rPr>
              <a:t>Timeline &amp; Our Contribution</a:t>
            </a:r>
            <a:endParaRPr b="1" sz="2500" strike="noStrike">
              <a:solidFill>
                <a:schemeClr val="lt1"/>
              </a:solidFill>
            </a:endParaRPr>
          </a:p>
        </p:txBody>
      </p:sp>
      <p:sp>
        <p:nvSpPr>
          <p:cNvPr id="170" name="Google Shape;170;p33"/>
          <p:cNvSpPr txBox="1"/>
          <p:nvPr/>
        </p:nvSpPr>
        <p:spPr>
          <a:xfrm>
            <a:off x="568976" y="1329650"/>
            <a:ext cx="101535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1970s ━━━━━ SCOOT/SCATS Development (Game Theory-based)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1976  ━━━━━ First SCOOT Deployment (Glasgow)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1980s ━━━━━ SCATS Deployment (Australia → US)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2000s ━━━━━ GA Research Begins (simulation only)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2010s ━━━━━ RL Research Surge (simulation only)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2019  ━━━━━ Zaied et al.: 457 intersections (Game Theory) 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2022  ━━━━━ Chen et al. Review: "RL never deployed" 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2023  ━━━━━ Wang et al.: Queue Equilibrium (Game Theory)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2025  ━━━━━ Our FYP: Game Theory in Pakistan</a:t>
            </a:r>
            <a:endParaRPr sz="20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</a:rPr>
              <a:t>Our Adaptation:</a:t>
            </a:r>
            <a:endParaRPr b="1"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Modified for multiple timeslots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Calibrated for mixed traffic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2-phase system (NS + EW)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Nash Equilibrium optimization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SUMO simulation validation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71" name="Google Shape;171;p33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72" name="Google Shape;17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78" name="Google Shape;178;p34"/>
          <p:cNvSpPr txBox="1"/>
          <p:nvPr/>
        </p:nvSpPr>
        <p:spPr>
          <a:xfrm>
            <a:off x="440855" y="336975"/>
            <a:ext cx="9690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Updated </a:t>
            </a:r>
            <a:r>
              <a:rPr lang="en-US" sz="4000" strike="noStrike">
                <a:solidFill>
                  <a:schemeClr val="lt1"/>
                </a:solidFill>
              </a:rPr>
              <a:t>Workflow Diagram</a:t>
            </a:r>
            <a:endParaRPr sz="4000" strike="noStrike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179" name="Google Shape;17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4" title="WorkFlowDiagram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25150"/>
            <a:ext cx="11140450" cy="377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4"/>
          <p:cNvSpPr txBox="1"/>
          <p:nvPr/>
        </p:nvSpPr>
        <p:spPr>
          <a:xfrm>
            <a:off x="498925" y="2392600"/>
            <a:ext cx="912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Traffic</a:t>
            </a:r>
            <a:endParaRPr sz="1800"/>
          </a:p>
        </p:txBody>
      </p:sp>
      <p:sp>
        <p:nvSpPr>
          <p:cNvPr id="182" name="Google Shape;182;p34"/>
          <p:cNvSpPr txBox="1"/>
          <p:nvPr/>
        </p:nvSpPr>
        <p:spPr>
          <a:xfrm>
            <a:off x="246475" y="3197675"/>
            <a:ext cx="14175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Detectors</a:t>
            </a:r>
            <a:endParaRPr sz="1800"/>
          </a:p>
        </p:txBody>
      </p:sp>
      <p:sp>
        <p:nvSpPr>
          <p:cNvPr id="183" name="Google Shape;183;p34"/>
          <p:cNvSpPr txBox="1"/>
          <p:nvPr/>
        </p:nvSpPr>
        <p:spPr>
          <a:xfrm>
            <a:off x="0" y="4138650"/>
            <a:ext cx="15762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Intersection</a:t>
            </a:r>
            <a:endParaRPr sz="1800"/>
          </a:p>
        </p:txBody>
      </p:sp>
      <p:sp>
        <p:nvSpPr>
          <p:cNvPr id="184" name="Google Shape;184;p34"/>
          <p:cNvSpPr txBox="1"/>
          <p:nvPr/>
        </p:nvSpPr>
        <p:spPr>
          <a:xfrm>
            <a:off x="2131775" y="2982225"/>
            <a:ext cx="12813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Run SUMO</a:t>
            </a:r>
            <a:endParaRPr sz="1800"/>
          </a:p>
        </p:txBody>
      </p:sp>
      <p:sp>
        <p:nvSpPr>
          <p:cNvPr id="185" name="Google Shape;185;p34"/>
          <p:cNvSpPr txBox="1"/>
          <p:nvPr/>
        </p:nvSpPr>
        <p:spPr>
          <a:xfrm>
            <a:off x="4025450" y="2949375"/>
            <a:ext cx="1281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Generate input data</a:t>
            </a:r>
            <a:endParaRPr sz="1800"/>
          </a:p>
        </p:txBody>
      </p:sp>
      <p:sp>
        <p:nvSpPr>
          <p:cNvPr id="186" name="Google Shape;186;p34"/>
          <p:cNvSpPr txBox="1"/>
          <p:nvPr/>
        </p:nvSpPr>
        <p:spPr>
          <a:xfrm>
            <a:off x="6032500" y="2165800"/>
            <a:ext cx="9126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waiting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time</a:t>
            </a:r>
            <a:endParaRPr sz="1800"/>
          </a:p>
        </p:txBody>
      </p:sp>
      <p:sp>
        <p:nvSpPr>
          <p:cNvPr id="187" name="Google Shape;187;p34"/>
          <p:cNvSpPr txBox="1"/>
          <p:nvPr/>
        </p:nvSpPr>
        <p:spPr>
          <a:xfrm>
            <a:off x="6043850" y="2993575"/>
            <a:ext cx="9126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queue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length</a:t>
            </a:r>
            <a:endParaRPr sz="1800"/>
          </a:p>
        </p:txBody>
      </p:sp>
      <p:sp>
        <p:nvSpPr>
          <p:cNvPr id="188" name="Google Shape;188;p34"/>
          <p:cNvSpPr txBox="1"/>
          <p:nvPr/>
        </p:nvSpPr>
        <p:spPr>
          <a:xfrm>
            <a:off x="5975825" y="3821350"/>
            <a:ext cx="1470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unserved vehicles</a:t>
            </a:r>
            <a:endParaRPr sz="1800"/>
          </a:p>
        </p:txBody>
      </p:sp>
      <p:sp>
        <p:nvSpPr>
          <p:cNvPr id="189" name="Google Shape;189;p34"/>
          <p:cNvSpPr txBox="1"/>
          <p:nvPr/>
        </p:nvSpPr>
        <p:spPr>
          <a:xfrm>
            <a:off x="7761600" y="2949375"/>
            <a:ext cx="1281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calculate payoff</a:t>
            </a:r>
            <a:endParaRPr sz="1800"/>
          </a:p>
        </p:txBody>
      </p:sp>
      <p:sp>
        <p:nvSpPr>
          <p:cNvPr id="190" name="Google Shape;190;p34"/>
          <p:cNvSpPr txBox="1"/>
          <p:nvPr/>
        </p:nvSpPr>
        <p:spPr>
          <a:xfrm>
            <a:off x="8833300" y="2131775"/>
            <a:ext cx="1099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define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players</a:t>
            </a:r>
            <a:endParaRPr sz="1800"/>
          </a:p>
        </p:txBody>
      </p:sp>
      <p:sp>
        <p:nvSpPr>
          <p:cNvPr id="191" name="Google Shape;191;p34"/>
          <p:cNvSpPr txBox="1"/>
          <p:nvPr/>
        </p:nvSpPr>
        <p:spPr>
          <a:xfrm>
            <a:off x="9848050" y="2982225"/>
            <a:ext cx="12813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compute nash</a:t>
            </a:r>
            <a:endParaRPr sz="1800"/>
          </a:p>
        </p:txBody>
      </p:sp>
      <p:sp>
        <p:nvSpPr>
          <p:cNvPr id="192" name="Google Shape;192;p34"/>
          <p:cNvSpPr txBox="1"/>
          <p:nvPr/>
        </p:nvSpPr>
        <p:spPr>
          <a:xfrm>
            <a:off x="9933100" y="4002775"/>
            <a:ext cx="14706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generate signals</a:t>
            </a:r>
            <a:endParaRPr sz="1800"/>
          </a:p>
        </p:txBody>
      </p:sp>
      <p:sp>
        <p:nvSpPr>
          <p:cNvPr id="193" name="Google Shape;193;p34"/>
          <p:cNvSpPr txBox="1"/>
          <p:nvPr/>
        </p:nvSpPr>
        <p:spPr>
          <a:xfrm>
            <a:off x="9676275" y="5020988"/>
            <a:ext cx="18708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feed signals back to SUMO</a:t>
            </a:r>
            <a:endParaRPr sz="1800"/>
          </a:p>
        </p:txBody>
      </p:sp>
      <p:sp>
        <p:nvSpPr>
          <p:cNvPr id="194" name="Google Shape;194;p34"/>
          <p:cNvSpPr txBox="1"/>
          <p:nvPr/>
        </p:nvSpPr>
        <p:spPr>
          <a:xfrm>
            <a:off x="7546225" y="4898425"/>
            <a:ext cx="1870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Optimize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traffic and wait for next input</a:t>
            </a:r>
            <a:endParaRPr sz="1800"/>
          </a:p>
        </p:txBody>
      </p:sp>
      <p:cxnSp>
        <p:nvCxnSpPr>
          <p:cNvPr id="195" name="Google Shape;195;p34"/>
          <p:cNvCxnSpPr>
            <a:stCxn id="194" idx="1"/>
          </p:cNvCxnSpPr>
          <p:nvPr/>
        </p:nvCxnSpPr>
        <p:spPr>
          <a:xfrm flipH="1">
            <a:off x="4694425" y="5401375"/>
            <a:ext cx="2851800" cy="30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34"/>
          <p:cNvCxnSpPr/>
          <p:nvPr/>
        </p:nvCxnSpPr>
        <p:spPr>
          <a:xfrm rot="-10386349">
            <a:off x="4567481" y="3693962"/>
            <a:ext cx="212436" cy="173735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  <a:effectLst>
            <a:reflection blurRad="0" dir="0" dist="0" endA="0" fadeDir="5400012" kx="0" rotWithShape="0" algn="bl" stPos="0" sy="-100000" ky="0"/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/>
        </p:nvSpPr>
        <p:spPr>
          <a:xfrm>
            <a:off x="578165" y="178190"/>
            <a:ext cx="9690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 Updated </a:t>
            </a:r>
            <a:r>
              <a:rPr lang="en-US" sz="4000" strike="noStrike">
                <a:solidFill>
                  <a:schemeClr val="lt1"/>
                </a:solidFill>
              </a:rPr>
              <a:t>Use-Case Diagram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202" name="Google Shape;202;p35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National University of Computer and Emerging Sciences - Wikipedia" id="203" name="Google Shape;2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5" title="WhatsApp Image 2026-03-04 at 1.59.56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6600" y="1140715"/>
            <a:ext cx="7610475" cy="55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/>
        </p:nvSpPr>
        <p:spPr>
          <a:xfrm>
            <a:off x="130530" y="464650"/>
            <a:ext cx="9690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Architecture Diagram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210" name="Google Shape;210;p36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9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National University of Computer and Emerging Sciences - Wikipedia" id="211" name="Google Shape;2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6" title="WhatsApp Image 2026-03-03 at 11.52.28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525" y="1840000"/>
            <a:ext cx="11079524" cy="3314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/>
        </p:nvSpPr>
        <p:spPr>
          <a:xfrm>
            <a:off x="630725" y="411850"/>
            <a:ext cx="5388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Activity Diagram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218" name="Google Shape;218;p37"/>
          <p:cNvSpPr txBox="1"/>
          <p:nvPr/>
        </p:nvSpPr>
        <p:spPr>
          <a:xfrm>
            <a:off x="1129320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19" name="Google Shape;21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7" title="WhatsApp Image 2026-03-03 at 11.26.24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725" y="1235650"/>
            <a:ext cx="9952635" cy="53175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37"/>
          <p:cNvCxnSpPr/>
          <p:nvPr/>
        </p:nvCxnSpPr>
        <p:spPr>
          <a:xfrm flipH="1">
            <a:off x="5669550" y="6168575"/>
            <a:ext cx="2464500" cy="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/>
        </p:nvSpPr>
        <p:spPr>
          <a:xfrm>
            <a:off x="164950" y="257714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Fixed Timed Signals </a:t>
            </a:r>
            <a:endParaRPr sz="7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(Base Model)</a:t>
            </a:r>
            <a:r>
              <a:rPr lang="en-US" sz="7000">
                <a:solidFill>
                  <a:schemeClr val="lt1"/>
                </a:solidFill>
              </a:rPr>
              <a:t> </a:t>
            </a:r>
            <a:endParaRPr sz="7000" strike="noStrike">
              <a:solidFill>
                <a:schemeClr val="lt1"/>
              </a:solidFill>
            </a:endParaRPr>
          </a:p>
        </p:txBody>
      </p:sp>
      <p:sp>
        <p:nvSpPr>
          <p:cNvPr id="227" name="Google Shape;227;p38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12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28" name="Google Shape;22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/>
        </p:nvSpPr>
        <p:spPr>
          <a:xfrm>
            <a:off x="659725" y="27719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Fixed Timed Model </a:t>
            </a:r>
            <a:endParaRPr sz="4000" strike="noStrike">
              <a:solidFill>
                <a:srgbClr val="BFBFBF"/>
              </a:solidFill>
            </a:endParaRPr>
          </a:p>
        </p:txBody>
      </p:sp>
      <p:sp>
        <p:nvSpPr>
          <p:cNvPr id="234" name="Google Shape;234;p39"/>
          <p:cNvSpPr txBox="1"/>
          <p:nvPr/>
        </p:nvSpPr>
        <p:spPr>
          <a:xfrm>
            <a:off x="583650" y="1003175"/>
            <a:ext cx="10305300" cy="51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North &amp; South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</a:rPr>
              <a:t>Speed:</a:t>
            </a:r>
            <a:r>
              <a:rPr lang="en-US" sz="3000">
                <a:solidFill>
                  <a:schemeClr val="lt1"/>
                </a:solidFill>
              </a:rPr>
              <a:t> 0.03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Travel Time:</a:t>
            </a:r>
            <a:r>
              <a:rPr lang="en-US" sz="3000">
                <a:solidFill>
                  <a:schemeClr val="lt1"/>
                </a:solidFill>
              </a:rPr>
              <a:t> 1132.37 seconds.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Teleporting:</a:t>
            </a:r>
            <a:r>
              <a:rPr lang="en-US" sz="3000">
                <a:solidFill>
                  <a:schemeClr val="lt1"/>
                </a:solidFill>
              </a:rPr>
              <a:t> 36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West &amp; East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Speed:</a:t>
            </a:r>
            <a:r>
              <a:rPr lang="en-US" sz="3000">
                <a:solidFill>
                  <a:schemeClr val="lt1"/>
                </a:solidFill>
              </a:rPr>
              <a:t> 0.40 to 0.47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Travel Time:</a:t>
            </a:r>
            <a:r>
              <a:rPr lang="en-US" sz="3000">
                <a:solidFill>
                  <a:schemeClr val="lt1"/>
                </a:solidFill>
              </a:rPr>
              <a:t> ~65–75 seconds.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Spillback along with Unfairness!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235" name="Google Shape;23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9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15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/>
          <p:nvPr/>
        </p:nvSpPr>
        <p:spPr>
          <a:xfrm>
            <a:off x="164950" y="257714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Game Theory Solution</a:t>
            </a:r>
            <a:endParaRPr sz="7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 strike="noStrike">
              <a:solidFill>
                <a:schemeClr val="lt1"/>
              </a:solidFill>
            </a:endParaRPr>
          </a:p>
        </p:txBody>
      </p:sp>
      <p:sp>
        <p:nvSpPr>
          <p:cNvPr id="242" name="Google Shape;242;p40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12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43" name="Google Shape;24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22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49" name="Google Shape;24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1"/>
          <p:cNvSpPr txBox="1"/>
          <p:nvPr/>
        </p:nvSpPr>
        <p:spPr>
          <a:xfrm>
            <a:off x="164950" y="543000"/>
            <a:ext cx="111279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Constant Variables: 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Type of Traffic: Mix and Aggressive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Time Slots = {Early Morning, Afternoon, Evening}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Number of Vehicles per each direction = 10200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Strategy Set = {Red, Green}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Number of player = 2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Payoff = (α)QueueLength + (β)WaitingTime + (γ)ResidualVehicles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/>
        </p:nvSpPr>
        <p:spPr>
          <a:xfrm>
            <a:off x="0" y="630673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Game Theory vs Base Model</a:t>
            </a:r>
            <a:endParaRPr sz="4000">
              <a:solidFill>
                <a:srgbClr val="BFBFBF"/>
              </a:solidFill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23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583650" y="1003175"/>
            <a:ext cx="10305300" cy="51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258" name="Google Shape;258;p42" title="Base Real Payo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6688" y="1896988"/>
            <a:ext cx="3705225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2" title="GT Real Payof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0062" y="1540527"/>
            <a:ext cx="5189190" cy="494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2" title="Base Real Payo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00" y="1584090"/>
            <a:ext cx="5319375" cy="485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261" name="Google Shape;26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06649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/>
        </p:nvSpPr>
        <p:spPr>
          <a:xfrm>
            <a:off x="164950" y="123473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Game Theory</a:t>
            </a:r>
            <a:r>
              <a:rPr lang="en-US" sz="4000">
                <a:solidFill>
                  <a:srgbClr val="BFBFBF"/>
                </a:solidFill>
              </a:rPr>
              <a:t> at Work!</a:t>
            </a:r>
            <a:endParaRPr sz="4000">
              <a:solidFill>
                <a:srgbClr val="BFBFBF"/>
              </a:solidFill>
            </a:endParaRPr>
          </a:p>
        </p:txBody>
      </p:sp>
      <p:sp>
        <p:nvSpPr>
          <p:cNvPr id="267" name="Google Shape;267;p43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24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68" name="Google Shape;26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925" y="754925"/>
            <a:ext cx="9530941" cy="60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/>
          <p:nvPr/>
        </p:nvSpPr>
        <p:spPr>
          <a:xfrm>
            <a:off x="172350" y="37569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GT vs Base model</a:t>
            </a:r>
            <a:endParaRPr sz="4000">
              <a:solidFill>
                <a:srgbClr val="BFBFBF"/>
              </a:solidFill>
            </a:endParaRPr>
          </a:p>
        </p:txBody>
      </p:sp>
      <p:sp>
        <p:nvSpPr>
          <p:cNvPr id="275" name="Google Shape;275;p44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25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44"/>
          <p:cNvSpPr txBox="1"/>
          <p:nvPr/>
        </p:nvSpPr>
        <p:spPr>
          <a:xfrm>
            <a:off x="583650" y="1003175"/>
            <a:ext cx="10305300" cy="51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277" name="Google Shape;277;p44" title="Base Real PO Spee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550" y="2498800"/>
            <a:ext cx="4515513" cy="271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4" title="GT Real PO Speed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2977" y="2498798"/>
            <a:ext cx="4458725" cy="271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279" name="Google Shape;279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/>
        </p:nvSpPr>
        <p:spPr>
          <a:xfrm>
            <a:off x="172350" y="37569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GT vs Base model </a:t>
            </a:r>
            <a:endParaRPr sz="4000">
              <a:solidFill>
                <a:srgbClr val="BFBFBF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BFBFBF"/>
                </a:solidFill>
              </a:rPr>
              <a:t>Throughput</a:t>
            </a:r>
            <a:endParaRPr b="1" sz="4000">
              <a:solidFill>
                <a:srgbClr val="BFBFBF"/>
              </a:solidFill>
            </a:endParaRPr>
          </a:p>
        </p:txBody>
      </p:sp>
      <p:sp>
        <p:nvSpPr>
          <p:cNvPr id="285" name="Google Shape;285;p45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26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6" name="Google Shape;286;p45" title="Base Real PO Through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50" y="2444075"/>
            <a:ext cx="4947399" cy="249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5" title="GT Real PO Throughpu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6603" y="2444075"/>
            <a:ext cx="4984597" cy="2492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288" name="Google Shape;288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27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46"/>
          <p:cNvSpPr txBox="1"/>
          <p:nvPr/>
        </p:nvSpPr>
        <p:spPr>
          <a:xfrm>
            <a:off x="3208300" y="546425"/>
            <a:ext cx="6501300" cy="26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999999"/>
                </a:solidFill>
              </a:rPr>
              <a:t>Avg Wait Time</a:t>
            </a:r>
            <a:endParaRPr sz="5000">
              <a:solidFill>
                <a:srgbClr val="999999"/>
              </a:solidFill>
            </a:endParaRPr>
          </a:p>
        </p:txBody>
      </p:sp>
      <p:pic>
        <p:nvPicPr>
          <p:cNvPr descr="National University of Computer and Emerging Sciences - Wikipedia" id="295" name="Google Shape;29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6" title="Screenshot 2026-04-21 1205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000" y="1594075"/>
            <a:ext cx="10274400" cy="488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28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02" name="Google Shape;302;p47"/>
          <p:cNvSpPr txBox="1"/>
          <p:nvPr/>
        </p:nvSpPr>
        <p:spPr>
          <a:xfrm>
            <a:off x="406200" y="1464525"/>
            <a:ext cx="10019700" cy="5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chemeClr val="lt1"/>
                </a:solidFill>
              </a:rPr>
              <a:t>Game Theory beat Fixed Timed Signals by half!!!</a:t>
            </a:r>
            <a:endParaRPr b="1" sz="7000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303" name="Google Shape;30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 txBox="1"/>
          <p:nvPr/>
        </p:nvSpPr>
        <p:spPr>
          <a:xfrm>
            <a:off x="11292840" y="6172200"/>
            <a:ext cx="912600" cy="5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29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09" name="Google Shape;309;p48"/>
          <p:cNvSpPr/>
          <p:nvPr/>
        </p:nvSpPr>
        <p:spPr>
          <a:xfrm>
            <a:off x="594365" y="205410"/>
            <a:ext cx="96909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lang="en-US" sz="4000">
                <a:solidFill>
                  <a:schemeClr val="lt1"/>
                </a:solidFill>
              </a:rPr>
              <a:t>App Prototype</a:t>
            </a:r>
            <a:endParaRPr b="0" sz="40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tional University of Computer and Emerging Sciences - Wikipedia" id="310" name="Google Shape;31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8" title="WhatsApp Image 2026-03-04 at 1.39.17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500" y="1356790"/>
            <a:ext cx="10046661" cy="4959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9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30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7" name="Google Shape;317;p49"/>
          <p:cNvSpPr/>
          <p:nvPr/>
        </p:nvSpPr>
        <p:spPr>
          <a:xfrm>
            <a:off x="594365" y="205410"/>
            <a:ext cx="96909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lang="en-US" sz="4000">
                <a:solidFill>
                  <a:schemeClr val="lt1"/>
                </a:solidFill>
              </a:rPr>
              <a:t>App Prototype</a:t>
            </a:r>
            <a:endParaRPr b="0" sz="40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tional University of Computer and Emerging Sciences - Wikipedia" id="318" name="Google Shape;31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 title="WhatsApp Image 2026-03-04 at 1.39.18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46474"/>
            <a:ext cx="11007424" cy="337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31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25" name="Google Shape;325;p50"/>
          <p:cNvSpPr/>
          <p:nvPr/>
        </p:nvSpPr>
        <p:spPr>
          <a:xfrm>
            <a:off x="594365" y="205410"/>
            <a:ext cx="96909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Planning</a:t>
            </a:r>
            <a:endParaRPr b="0" sz="40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50"/>
          <p:cNvSpPr txBox="1"/>
          <p:nvPr/>
        </p:nvSpPr>
        <p:spPr>
          <a:xfrm>
            <a:off x="4815200" y="6266835"/>
            <a:ext cx="35763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Fig: Gantt Chart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tional University of Computer and Emerging Sciences - Wikipedia" id="327" name="Google Shape;32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50" title="WhatsApp Image 2026-03-04 at 1.48.49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5500" y="1301129"/>
            <a:ext cx="7588650" cy="4703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1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32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34" name="Google Shape;334;p51"/>
          <p:cNvSpPr txBox="1"/>
          <p:nvPr/>
        </p:nvSpPr>
        <p:spPr>
          <a:xfrm>
            <a:off x="512900" y="376100"/>
            <a:ext cx="55686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</a:rPr>
              <a:t>References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335" name="Google Shape;335;p51"/>
          <p:cNvSpPr txBox="1"/>
          <p:nvPr/>
        </p:nvSpPr>
        <p:spPr>
          <a:xfrm>
            <a:off x="512900" y="935600"/>
            <a:ext cx="10166100" cy="3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Game Theory:</a:t>
            </a:r>
            <a:endParaRPr b="1" sz="24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en-US" sz="2200">
                <a:solidFill>
                  <a:schemeClr val="lt1"/>
                </a:solidFill>
              </a:rPr>
              <a:t>Zaied et al. (2019)</a:t>
            </a:r>
            <a:r>
              <a:rPr lang="en-US" sz="2200">
                <a:solidFill>
                  <a:schemeClr val="lt1"/>
                </a:solidFill>
              </a:rPr>
              <a:t> - </a:t>
            </a:r>
            <a:r>
              <a:rPr i="1" lang="en-US" sz="2200">
                <a:solidFill>
                  <a:schemeClr val="lt1"/>
                </a:solidFill>
              </a:rPr>
              <a:t>Sensors</a:t>
            </a:r>
            <a:r>
              <a:rPr lang="en-US" sz="2200">
                <a:solidFill>
                  <a:schemeClr val="lt1"/>
                </a:solidFill>
              </a:rPr>
              <a:t> - 457 intersections, Los Angeles 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en-US" sz="2200">
                <a:solidFill>
                  <a:schemeClr val="lt1"/>
                </a:solidFill>
              </a:rPr>
              <a:t>Wang et al. (2023)</a:t>
            </a:r>
            <a:r>
              <a:rPr lang="en-US" sz="2200">
                <a:solidFill>
                  <a:schemeClr val="lt1"/>
                </a:solidFill>
              </a:rPr>
              <a:t> - </a:t>
            </a:r>
            <a:r>
              <a:rPr i="1" lang="en-US" sz="2200">
                <a:solidFill>
                  <a:schemeClr val="lt1"/>
                </a:solidFill>
              </a:rPr>
              <a:t>Applied Sciences</a:t>
            </a:r>
            <a:r>
              <a:rPr lang="en-US" sz="2200">
                <a:solidFill>
                  <a:schemeClr val="lt1"/>
                </a:solidFill>
              </a:rPr>
              <a:t> - Queue equilibrium control 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en-US" sz="2200">
                <a:solidFill>
                  <a:schemeClr val="lt1"/>
                </a:solidFill>
              </a:rPr>
              <a:t>Stevanovic et al. (2009)</a:t>
            </a:r>
            <a:r>
              <a:rPr lang="en-US" sz="2200">
                <a:solidFill>
                  <a:schemeClr val="lt1"/>
                </a:solidFill>
              </a:rPr>
              <a:t> - SCOOT/SCATS deployment review 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en-US" sz="2200">
                <a:solidFill>
                  <a:schemeClr val="lt1"/>
                </a:solidFill>
              </a:rPr>
              <a:t>TRL Software (2024)</a:t>
            </a:r>
            <a:r>
              <a:rPr lang="en-US" sz="2200">
                <a:solidFill>
                  <a:schemeClr val="lt1"/>
                </a:solidFill>
              </a:rPr>
              <a:t> - SCOOT: 350+ cities worldwide 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Reinforcement Learning:</a:t>
            </a:r>
            <a:endParaRPr b="1" sz="24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 startAt="5"/>
            </a:pPr>
            <a:r>
              <a:rPr b="1" lang="en-US" sz="2200">
                <a:solidFill>
                  <a:schemeClr val="lt1"/>
                </a:solidFill>
              </a:rPr>
              <a:t>Chen et al. (2022)</a:t>
            </a:r>
            <a:r>
              <a:rPr lang="en-US" sz="2200">
                <a:solidFill>
                  <a:schemeClr val="lt1"/>
                </a:solidFill>
              </a:rPr>
              <a:t> - </a:t>
            </a:r>
            <a:r>
              <a:rPr i="1" lang="en-US" sz="2200">
                <a:solidFill>
                  <a:schemeClr val="lt1"/>
                </a:solidFill>
              </a:rPr>
              <a:t>arXiv</a:t>
            </a:r>
            <a:r>
              <a:rPr lang="en-US" sz="2200">
                <a:solidFill>
                  <a:schemeClr val="lt1"/>
                </a:solidFill>
              </a:rPr>
              <a:t> - Comprehensive review</a:t>
            </a:r>
            <a:endParaRPr sz="2200">
              <a:solidFill>
                <a:schemeClr val="lt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</a:pPr>
            <a:r>
              <a:rPr b="1" lang="en-US" sz="2200">
                <a:solidFill>
                  <a:schemeClr val="lt1"/>
                </a:solidFill>
              </a:rPr>
              <a:t>Key Finding:</a:t>
            </a:r>
            <a:r>
              <a:rPr lang="en-US" sz="2200">
                <a:solidFill>
                  <a:schemeClr val="lt1"/>
                </a:solidFill>
              </a:rPr>
              <a:t> </a:t>
            </a:r>
            <a:r>
              <a:rPr i="1" lang="en-US" sz="2200">
                <a:solidFill>
                  <a:schemeClr val="lt1"/>
                </a:solidFill>
              </a:rPr>
              <a:t>"RL-based signal controllers have never been deployed"</a:t>
            </a:r>
            <a:r>
              <a:rPr lang="en-US" sz="2200">
                <a:solidFill>
                  <a:schemeClr val="lt1"/>
                </a:solidFill>
              </a:rPr>
              <a:t> </a:t>
            </a:r>
            <a:endParaRPr sz="2200">
              <a:solidFill>
                <a:schemeClr val="lt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</a:pPr>
            <a:r>
              <a:rPr lang="en-US" sz="2200">
                <a:solidFill>
                  <a:schemeClr val="lt1"/>
                </a:solidFill>
              </a:rPr>
              <a:t>Identifies 4 insurmountable deployment barriers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Genetic Algorithms:</a:t>
            </a:r>
            <a:endParaRPr b="1" sz="24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 startAt="6"/>
            </a:pPr>
            <a:r>
              <a:rPr b="1" lang="en-US" sz="2200">
                <a:solidFill>
                  <a:schemeClr val="lt1"/>
                </a:solidFill>
              </a:rPr>
              <a:t>Brazilian NSGA2 Study</a:t>
            </a:r>
            <a:r>
              <a:rPr lang="en-US" sz="2200">
                <a:solidFill>
                  <a:schemeClr val="lt1"/>
                </a:solidFill>
              </a:rPr>
              <a:t> - </a:t>
            </a:r>
            <a:r>
              <a:rPr i="1" lang="en-US" sz="2200">
                <a:solidFill>
                  <a:schemeClr val="lt1"/>
                </a:solidFill>
              </a:rPr>
              <a:t>"No way to perform feedback in real world"</a:t>
            </a:r>
            <a:r>
              <a:rPr lang="en-US" sz="2200">
                <a:solidFill>
                  <a:schemeClr val="lt1"/>
                </a:solidFill>
              </a:rPr>
              <a:t> 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 startAt="6"/>
            </a:pPr>
            <a:r>
              <a:rPr lang="en-US" sz="2200">
                <a:solidFill>
                  <a:schemeClr val="lt1"/>
                </a:solidFill>
              </a:rPr>
              <a:t>Multiple IEEE/ACM papers (2000-2020) - All simulation-based </a:t>
            </a:r>
            <a:endParaRPr i="1" sz="3500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336" name="Google Shape;33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2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33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42" name="Google Shape;342;p52"/>
          <p:cNvSpPr txBox="1"/>
          <p:nvPr/>
        </p:nvSpPr>
        <p:spPr>
          <a:xfrm>
            <a:off x="3004050" y="2857500"/>
            <a:ext cx="55686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chemeClr val="lt1"/>
                </a:solidFill>
              </a:rPr>
              <a:t>Thank You!</a:t>
            </a:r>
            <a:endParaRPr b="1" sz="7000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343" name="Google Shape;34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