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7559675" cy="10691800"/>
  <p:embeddedFontLst>
    <p:embeddedFont>
      <p:font typeface="Century Schoolbook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enturySchoolbook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Schoolboo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Schoolbook-boldItalic.fntdata"/><Relationship Id="rId30" Type="http://schemas.openxmlformats.org/officeDocument/2006/relationships/font" Target="fonts/CenturySchoolbook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97b24151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b97b24151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b83cf13d_1_2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cb83cf13d_1_2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cb83cf13d_1_1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cb83cf13d_1_1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97b24151_0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b97b24151_0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97b24151_0_7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Solved the complex issue of vehicle overlapping ("ghosting") by implementing a Sublane Model with high-precision lateral resolution (0.2m). This forces heavy vehicles to maintain strict lane discipline while allowing bikes and rickshaws to realistically weave and filter through gaps.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Utilized the TraCI interface to inject unpredictable, human-like behaviors into the agents. This includes custom algorithms for "Chaos Events" (rickshaws randomly stopping to drop passengers) and aggressive lane-changing, accurately modeling the disorder of South Asian traffic.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simulation evolves through distinct time-of-day phases (Morning Rush, Mid-day Lull, Evening Rush) to test the network under varying loads. Real-time performance metrics (Queue Length, Wait Time, Chaos counts) are logged per direction ("Player") to CSV for data analysis.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0" name="Google Shape;170;g3ab97b24151_0_7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97b24151_0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b97b24151_0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97b24151_0_8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b97b24151_0_8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cfa574c66_0_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acfa574c66_0_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cfa574c66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acfa574c66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cfa574c66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cfa574c66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cb83cf13d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cb83cf13d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cb83cf13d_1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cb83cf13d_1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cb83cf13d_1_1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cb83cf13d_1_1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cb83cf13d_1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cb83cf13d_1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cb83cf13d_1_2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acb83cf13d_1_2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b97b24151_0_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b97b24151_0_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455400" cy="68562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 rot="-5400000">
            <a:off x="9959370" y="4048470"/>
            <a:ext cx="3579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 rot="-5400000">
            <a:off x="10797570" y="1000470"/>
            <a:ext cx="1903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1292840" y="0"/>
            <a:ext cx="912600" cy="68562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 rot="-5400000">
            <a:off x="9959370" y="4048470"/>
            <a:ext cx="3579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 rot="-5400000">
            <a:off x="10797570" y="1000470"/>
            <a:ext cx="1903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ational University of Computer and Emerging Sciences - Wikipedia"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045" y="34720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/>
          <p:nvPr/>
        </p:nvSpPr>
        <p:spPr>
          <a:xfrm>
            <a:off x="1261800" y="264300"/>
            <a:ext cx="10593900" cy="40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strike="noStrike">
                <a:solidFill>
                  <a:srgbClr val="FFFFFF"/>
                </a:solidFill>
              </a:rPr>
              <a:t>Optimizing Traffic Signal Scheduling: </a:t>
            </a:r>
            <a:br>
              <a:rPr lang="en-US" sz="1800"/>
            </a:br>
            <a:r>
              <a:rPr lang="en-US" sz="2400" strike="noStrike">
                <a:solidFill>
                  <a:srgbClr val="FFFFFF"/>
                </a:solidFill>
              </a:rPr>
              <a:t>A Game Theory Approach to Reducing Wait Times</a:t>
            </a:r>
            <a:br>
              <a:rPr lang="en-US" sz="1800"/>
            </a:br>
            <a:br>
              <a:rPr lang="en-US" sz="1800"/>
            </a:br>
            <a:br>
              <a:rPr lang="en-US" sz="1800"/>
            </a:br>
            <a:endParaRPr sz="2400" strike="noStrike"/>
          </a:p>
        </p:txBody>
      </p:sp>
      <p:sp>
        <p:nvSpPr>
          <p:cNvPr id="121" name="Google Shape;121;p27"/>
          <p:cNvSpPr/>
          <p:nvPr/>
        </p:nvSpPr>
        <p:spPr>
          <a:xfrm>
            <a:off x="1261800" y="4305600"/>
            <a:ext cx="53157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Group Members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Syed Subhan Shah Bokhari (22P-9447)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Maaz Mustafa (22P-9405)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Moiz Ghazanfar(22P-9425)</a:t>
            </a:r>
            <a:endParaRPr sz="2200" strike="noStrike"/>
          </a:p>
        </p:txBody>
      </p:sp>
      <p:sp>
        <p:nvSpPr>
          <p:cNvPr id="122" name="Google Shape;122;p27"/>
          <p:cNvSpPr/>
          <p:nvPr/>
        </p:nvSpPr>
        <p:spPr>
          <a:xfrm>
            <a:off x="6755470" y="4305663"/>
            <a:ext cx="48669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Project Supervisor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Mr. Usama Musharaf</a:t>
            </a:r>
            <a:endParaRPr sz="2200" strike="noStrike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682920" y="571590"/>
            <a:ext cx="9690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Table of content</a:t>
            </a:r>
            <a:endParaRPr sz="4000" strike="noStrike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560" y="287640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0" name="Google Shape;130;p28"/>
          <p:cNvSpPr/>
          <p:nvPr/>
        </p:nvSpPr>
        <p:spPr>
          <a:xfrm>
            <a:off x="6613920" y="6088320"/>
            <a:ext cx="323496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 txBox="1"/>
          <p:nvPr/>
        </p:nvSpPr>
        <p:spPr>
          <a:xfrm>
            <a:off x="682920" y="1562400"/>
            <a:ext cx="6212100" cy="52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Problem Statement</a:t>
            </a:r>
            <a:endParaRPr sz="2000" strike="noStrike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Literature Review</a:t>
            </a:r>
            <a:endParaRPr sz="2000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SUMO + TraCI</a:t>
            </a:r>
            <a:endParaRPr sz="2000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DEMO of Baseline Model</a:t>
            </a:r>
            <a:endParaRPr sz="2000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What’s Next?</a:t>
            </a:r>
            <a:endParaRPr sz="2000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 strike="noStrike">
                <a:solidFill>
                  <a:schemeClr val="lt1"/>
                </a:solidFill>
              </a:rPr>
              <a:t>Implementation Methodology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Diagrams and Figures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 strike="noStrike">
                <a:solidFill>
                  <a:schemeClr val="lt1"/>
                </a:solidFill>
              </a:rPr>
              <a:t>References</a:t>
            </a:r>
            <a:endParaRPr sz="2000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/>
        </p:nvSpPr>
        <p:spPr>
          <a:xfrm>
            <a:off x="800280" y="9100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Problem Statement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360530" y="1988275"/>
            <a:ext cx="5335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noStrike">
                <a:solidFill>
                  <a:schemeClr val="lt1"/>
                </a:solidFill>
              </a:rPr>
              <a:t>“Conventional traffic signals use fixed-time cycles, which are inefficient a</a:t>
            </a:r>
            <a:r>
              <a:rPr lang="en-US" sz="2400">
                <a:solidFill>
                  <a:schemeClr val="lt1"/>
                </a:solidFill>
              </a:rPr>
              <a:t>s they</a:t>
            </a:r>
            <a:r>
              <a:rPr lang="en-US" sz="2400" strike="noStrike">
                <a:solidFill>
                  <a:schemeClr val="lt1"/>
                </a:solidFill>
              </a:rPr>
              <a:t> cannot adapt to real-time traffic fluctuations, leading to unnecessary congestion and long delays.”</a:t>
            </a:r>
            <a:endParaRPr sz="2400" strike="noStrike">
              <a:solidFill>
                <a:schemeClr val="lt1"/>
              </a:solidFill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/Users/Subha/OneDrive/Desktop/slide3.jpgslide3" id="139" name="Google Shape;139;p29"/>
          <p:cNvPicPr preferRelativeResize="0"/>
          <p:nvPr/>
        </p:nvPicPr>
        <p:blipFill rotWithShape="1">
          <a:blip r:embed="rId3">
            <a:alphaModFix/>
          </a:blip>
          <a:srcRect b="0" l="13633" r="13634" t="0"/>
          <a:stretch/>
        </p:blipFill>
        <p:spPr>
          <a:xfrm>
            <a:off x="6088780" y="1988280"/>
            <a:ext cx="4637880" cy="42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/>
        </p:nvSpPr>
        <p:spPr>
          <a:xfrm>
            <a:off x="800280" y="28809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Literature Review: Performance Evaluation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30" title="Screenshot 2025-12-02 213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350" y="1064425"/>
            <a:ext cx="9286750" cy="541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/>
        </p:nvSpPr>
        <p:spPr>
          <a:xfrm>
            <a:off x="800275" y="288100"/>
            <a:ext cx="10492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Literature Review: Performance Comparison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274" y="1100374"/>
            <a:ext cx="9979200" cy="54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/>
        </p:nvSpPr>
        <p:spPr>
          <a:xfrm>
            <a:off x="362530" y="251620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The ‘Black Box’ Problem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59" name="Google Shape;159;p32"/>
          <p:cNvSpPr txBox="1"/>
          <p:nvPr/>
        </p:nvSpPr>
        <p:spPr>
          <a:xfrm>
            <a:off x="362525" y="1136400"/>
            <a:ext cx="10690500" cy="50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Reinforcement Learning: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“Complex and opaque neural networks hard to understand and debug"</a:t>
            </a:r>
            <a:r>
              <a:rPr lang="en-US" sz="2100">
                <a:solidFill>
                  <a:schemeClr val="lt1"/>
                </a:solidFill>
              </a:rPr>
              <a:t> (Chen et al., 2022)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Cannot explain why a decision was made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Safety-critical systems require transparency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Genetic Algorithms: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"Survival of the fittest"</a:t>
            </a:r>
            <a:r>
              <a:rPr lang="en-US" sz="2100">
                <a:solidFill>
                  <a:schemeClr val="lt1"/>
                </a:solidFill>
              </a:rPr>
              <a:t> is not an engineering explanation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No clear decision logic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Difficult to validate and tune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Game Theory: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Clear payoff functions: U = -(α·Wait + β·Delay + γ·Queue)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Engineers understand WHY decisions are made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Easy to validate and adjust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0" name="Google Shape;160;p3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/>
        </p:nvSpPr>
        <p:spPr>
          <a:xfrm>
            <a:off x="800280" y="4887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Timeline &amp; Our Contribution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568976" y="1329650"/>
            <a:ext cx="10153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1970s ━━━━━ SCOOT/SCATS Development (Game Theory-based)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1976  ━━━━━ First SCOOT Deployment (Glasgow)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1980s ━━━━━ SCATS Deployment (Australia → US)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2000s ━━━━━ GA Research Begins (simulation only)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2010s ━━━━━ RL Research Surge (simulation only)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2019  ━━━━━ Zaied et al.: 457 intersections (Game Theory) 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2022  ━━━━━ Chen et al. Review: "RL never deployed" 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2023  ━━━━━ Wang et al.: Queue Equilibrium (Game Theory)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2025  ━━━━━ Our FYP: Game Theory in Pakistan</a:t>
            </a:r>
            <a:endParaRPr sz="20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Our Adaptation:</a:t>
            </a:r>
            <a:endParaRPr b="1"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Modified for multiple timeslots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Calibrated for mixed traffic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2-phase system (NS + EW)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Nash Equilibrium optimization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SUMO simulation validation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67" name="Google Shape;167;p3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/>
        </p:nvSpPr>
        <p:spPr>
          <a:xfrm>
            <a:off x="800280" y="4887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SUMO and TraCI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73" name="Google Shape;173;p3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34"/>
          <p:cNvSpPr txBox="1"/>
          <p:nvPr/>
        </p:nvSpPr>
        <p:spPr>
          <a:xfrm>
            <a:off x="875500" y="1475450"/>
            <a:ext cx="100134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Dynamic Network Generation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High-Fidelity Mixed-Traffic Physics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TraCI-Based Stochastic "Chaos”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Dynamic Temporal Phases &amp; Analytics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/>
        </p:nvSpPr>
        <p:spPr>
          <a:xfrm>
            <a:off x="164950" y="25771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Baseline Model </a:t>
            </a:r>
            <a:endParaRPr sz="7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DEMO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180" name="Google Shape;180;p35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/>
        </p:nvSpPr>
        <p:spPr>
          <a:xfrm>
            <a:off x="164950" y="21558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What’s Next?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186" name="Google Shape;186;p36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/>
        </p:nvSpPr>
        <p:spPr>
          <a:xfrm>
            <a:off x="630720" y="411840"/>
            <a:ext cx="557316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Implementation Methodology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92" name="Google Shape;192;p37"/>
          <p:cNvSpPr txBox="1"/>
          <p:nvPr/>
        </p:nvSpPr>
        <p:spPr>
          <a:xfrm>
            <a:off x="1129320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7"/>
          <p:cNvSpPr txBox="1"/>
          <p:nvPr/>
        </p:nvSpPr>
        <p:spPr>
          <a:xfrm>
            <a:off x="785160" y="1776240"/>
            <a:ext cx="9820800" cy="48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T_cycle: Total signal cycle time (e.g., 100 seconds)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g_min, g_max: Minimum and maximum green time bounds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τ_yellow, τ_all_red: Clearance times (yellow + all-red)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α, β, γ: Weight coefficients for payoff function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edge_ids: SUMO edge identifiers [North, East, South, West]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ε: Convergence threshold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η: Learning rate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max_iterations: Maximum number of iterations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g_NS*, g_EW*: Optimal green times for North-South and East-West phases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- performance_metrics: (avg_wait, total_delay, throughput, convergence_status)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/>
        </p:nvSpPr>
        <p:spPr>
          <a:xfrm>
            <a:off x="333720" y="211615"/>
            <a:ext cx="55731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Implementation Methodology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1129320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11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8"/>
          <p:cNvSpPr txBox="1"/>
          <p:nvPr/>
        </p:nvSpPr>
        <p:spPr>
          <a:xfrm>
            <a:off x="333725" y="1509275"/>
            <a:ext cx="10746000" cy="49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GAME FORMULATION: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Players: 4 approaches {North, East, South, West}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Strategy Space: 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S_i = {g_i | g_min ≤ g_i ≤ g_max}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Payoff Function: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U_i(g) = -(α·W_i + β·D_i + γ·Q_residual)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Where: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W_i = Q_i × (T_cycle - g_i)           // Waiting cost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D_i = Q_i² / (2 × s_i × g_i)          // Delay cost (Webster's formula)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Q_residual = max(0, Q_i - s_i × g_i) // Unserved vehicles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s_i = saturation_flow × 2             // For 2 lanes per approach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Constraints: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g_NS + g_EW + 2×(τ_yellow + τ_all_red) = T_cycle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g_NS = g_North = g_South                  // Paired movements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g_EW = g_East = g_West                    // Paired movements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/>
        </p:nvSpPr>
        <p:spPr>
          <a:xfrm>
            <a:off x="419375" y="303699"/>
            <a:ext cx="111279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What’s Next? </a:t>
            </a:r>
            <a:endParaRPr sz="2400" strike="noStrike">
              <a:solidFill>
                <a:schemeClr val="lt1"/>
              </a:solidFill>
            </a:endParaRPr>
          </a:p>
        </p:txBody>
      </p:sp>
      <p:sp>
        <p:nvSpPr>
          <p:cNvPr id="206" name="Google Shape;206;p39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600" y="1591175"/>
            <a:ext cx="9131450" cy="36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/>
        </p:nvSpPr>
        <p:spPr>
          <a:xfrm>
            <a:off x="419375" y="303699"/>
            <a:ext cx="111279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What’s Next? </a:t>
            </a:r>
            <a:endParaRPr sz="2400" strike="noStrike">
              <a:solidFill>
                <a:schemeClr val="lt1"/>
              </a:solidFill>
            </a:endParaRPr>
          </a:p>
        </p:txBody>
      </p:sp>
      <p:sp>
        <p:nvSpPr>
          <p:cNvPr id="213" name="Google Shape;213;p4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4" name="Google Shape;2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00" y="1856575"/>
            <a:ext cx="10881275" cy="31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/>
        </p:nvSpPr>
        <p:spPr>
          <a:xfrm>
            <a:off x="419375" y="303699"/>
            <a:ext cx="111279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What’s Next? </a:t>
            </a:r>
            <a:endParaRPr sz="2400" strike="noStrike">
              <a:solidFill>
                <a:schemeClr val="lt1"/>
              </a:solidFill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575" y="1627951"/>
            <a:ext cx="10825875" cy="36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/>
        </p:nvSpPr>
        <p:spPr>
          <a:xfrm>
            <a:off x="578165" y="178190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Use-Case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27" name="Google Shape;227;p4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28" name="Google Shape;228;p42"/>
          <p:cNvPicPr preferRelativeResize="0"/>
          <p:nvPr/>
        </p:nvPicPr>
        <p:blipFill rotWithShape="1">
          <a:blip r:embed="rId3">
            <a:alphaModFix/>
          </a:blip>
          <a:srcRect b="0" l="0" r="0" t="3390"/>
          <a:stretch/>
        </p:blipFill>
        <p:spPr>
          <a:xfrm>
            <a:off x="2117133" y="1018440"/>
            <a:ext cx="7610040" cy="533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16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4" name="Google Shape;234;p43"/>
          <p:cNvSpPr txBox="1"/>
          <p:nvPr/>
        </p:nvSpPr>
        <p:spPr>
          <a:xfrm>
            <a:off x="440855" y="336975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Workflow Diagram</a:t>
            </a:r>
            <a:endParaRPr sz="4000" strike="noStrike">
              <a:solidFill>
                <a:schemeClr val="lt1"/>
              </a:solidFill>
            </a:endParaRPr>
          </a:p>
        </p:txBody>
      </p:sp>
      <p:pic>
        <p:nvPicPr>
          <p:cNvPr descr="slide4" id="235" name="Google Shape;2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855" y="1645325"/>
            <a:ext cx="10639800" cy="424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/>
          <p:nvPr/>
        </p:nvSpPr>
        <p:spPr>
          <a:xfrm>
            <a:off x="130530" y="464650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Architecture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41" name="Google Shape;241;p4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17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42" name="Google Shape;24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20" y="1830600"/>
            <a:ext cx="10998000" cy="35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/>
        </p:nvSpPr>
        <p:spPr>
          <a:xfrm>
            <a:off x="630725" y="411850"/>
            <a:ext cx="5388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Activity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48" name="Google Shape;248;p45"/>
          <p:cNvSpPr txBox="1"/>
          <p:nvPr/>
        </p:nvSpPr>
        <p:spPr>
          <a:xfrm>
            <a:off x="1129320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18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000" y="1235640"/>
            <a:ext cx="9099000" cy="526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Picture1" id="255" name="Google Shape;25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243" y="1857240"/>
            <a:ext cx="9048960" cy="42955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6"/>
          <p:cNvSpPr/>
          <p:nvPr/>
        </p:nvSpPr>
        <p:spPr>
          <a:xfrm>
            <a:off x="594365" y="467735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Planning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6"/>
          <p:cNvSpPr txBox="1"/>
          <p:nvPr/>
        </p:nvSpPr>
        <p:spPr>
          <a:xfrm>
            <a:off x="4815200" y="6266835"/>
            <a:ext cx="3576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Fig: Gantt Chart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63" name="Google Shape;263;p47"/>
          <p:cNvSpPr txBox="1"/>
          <p:nvPr/>
        </p:nvSpPr>
        <p:spPr>
          <a:xfrm>
            <a:off x="512900" y="376100"/>
            <a:ext cx="55686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References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264" name="Google Shape;264;p47"/>
          <p:cNvSpPr txBox="1"/>
          <p:nvPr/>
        </p:nvSpPr>
        <p:spPr>
          <a:xfrm>
            <a:off x="512900" y="935600"/>
            <a:ext cx="101661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Game Theory: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Zaied et al. (2019)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Sensors</a:t>
            </a:r>
            <a:r>
              <a:rPr lang="en-US" sz="2200">
                <a:solidFill>
                  <a:schemeClr val="lt1"/>
                </a:solidFill>
              </a:rPr>
              <a:t> - 457 intersections, Los Angeles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Wang et al. (2023)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Applied Sciences</a:t>
            </a:r>
            <a:r>
              <a:rPr lang="en-US" sz="2200">
                <a:solidFill>
                  <a:schemeClr val="lt1"/>
                </a:solidFill>
              </a:rPr>
              <a:t> - Queue equilibrium control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Stevanovic et al. (2009)</a:t>
            </a:r>
            <a:r>
              <a:rPr lang="en-US" sz="2200">
                <a:solidFill>
                  <a:schemeClr val="lt1"/>
                </a:solidFill>
              </a:rPr>
              <a:t> - SCOOT/SCATS deployment review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TRL Software (2024)</a:t>
            </a:r>
            <a:r>
              <a:rPr lang="en-US" sz="2200">
                <a:solidFill>
                  <a:schemeClr val="lt1"/>
                </a:solidFill>
              </a:rPr>
              <a:t> - SCOOT: 350+ cities worldwide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Reinforcement Learning: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5"/>
            </a:pPr>
            <a:r>
              <a:rPr b="1" lang="en-US" sz="2200">
                <a:solidFill>
                  <a:schemeClr val="lt1"/>
                </a:solidFill>
              </a:rPr>
              <a:t>Chen et al. (2022)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arXiv</a:t>
            </a:r>
            <a:r>
              <a:rPr lang="en-US" sz="2200">
                <a:solidFill>
                  <a:schemeClr val="lt1"/>
                </a:solidFill>
              </a:rPr>
              <a:t> - Comprehensive review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b="1" lang="en-US" sz="2200">
                <a:solidFill>
                  <a:schemeClr val="lt1"/>
                </a:solidFill>
              </a:rPr>
              <a:t>Key Finding:</a:t>
            </a:r>
            <a:r>
              <a:rPr lang="en-US" sz="2200">
                <a:solidFill>
                  <a:schemeClr val="lt1"/>
                </a:solidFill>
              </a:rPr>
              <a:t> </a:t>
            </a:r>
            <a:r>
              <a:rPr i="1" lang="en-US" sz="2200">
                <a:solidFill>
                  <a:schemeClr val="lt1"/>
                </a:solidFill>
              </a:rPr>
              <a:t>"RL-based signal controllers have never been deployed"</a:t>
            </a:r>
            <a:r>
              <a:rPr lang="en-US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lang="en-US" sz="2200">
                <a:solidFill>
                  <a:schemeClr val="lt1"/>
                </a:solidFill>
              </a:rPr>
              <a:t>Identifies 4 insurmountable deployment barriers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Genetic Algorithms: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6"/>
            </a:pPr>
            <a:r>
              <a:rPr b="1" lang="en-US" sz="2200">
                <a:solidFill>
                  <a:schemeClr val="lt1"/>
                </a:solidFill>
              </a:rPr>
              <a:t>Brazilian NSGA2 Study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"No way to perform feedback in real world"</a:t>
            </a:r>
            <a:r>
              <a:rPr lang="en-US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6"/>
            </a:pPr>
            <a:r>
              <a:rPr lang="en-US" sz="2200">
                <a:solidFill>
                  <a:schemeClr val="lt1"/>
                </a:solidFill>
              </a:rPr>
              <a:t>Multiple IEEE/ACM papers (2000-2020) - All simulation-based </a:t>
            </a:r>
            <a:endParaRPr i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21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270" name="Google Shape;27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9610" y="300210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8"/>
          <p:cNvSpPr txBox="1"/>
          <p:nvPr/>
        </p:nvSpPr>
        <p:spPr>
          <a:xfrm>
            <a:off x="3004050" y="2857500"/>
            <a:ext cx="55686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</a:rPr>
              <a:t>Thank You!</a:t>
            </a:r>
            <a:endParaRPr b="1"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