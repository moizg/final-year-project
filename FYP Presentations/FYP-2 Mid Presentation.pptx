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6858000" cx="12192000"/>
  <p:notesSz cx="7559675" cy="10691800"/>
  <p:embeddedFontLst>
    <p:embeddedFont>
      <p:font typeface="Century Schoolbook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Schoolbook-regular.fntdata"/><Relationship Id="rId20" Type="http://schemas.openxmlformats.org/officeDocument/2006/relationships/slide" Target="slides/slide15.xml"/><Relationship Id="rId42" Type="http://schemas.openxmlformats.org/officeDocument/2006/relationships/font" Target="fonts/CenturySchoolbook-italic.fntdata"/><Relationship Id="rId41" Type="http://schemas.openxmlformats.org/officeDocument/2006/relationships/font" Target="fonts/CenturySchoolbook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schemas.openxmlformats.org/officeDocument/2006/relationships/font" Target="fonts/CenturySchoolbook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97b24151_0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b97b24151_0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cb83cf13d_1_2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cb83cf13d_1_2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cb83cf13d_1_1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cb83cf13d_1_1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b97b24151_0_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b97b24151_0_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cb83cf13d_1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acb83cf13d_1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cb83cf13d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acb83cf13d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cb83cf13d_1_1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acb83cf13d_1_1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cb83cf13d_1_1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acb83cf13d_1_1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b97b24151_0_7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Solved the complex issue of vehicle overlapping ("ghosting") by implementing a Sublane Model with high-precision lateral resolution (0.2m). This forces heavy vehicles to maintain strict lane discipline while allowing bikes and rickshaws to realistically weave and filter through gaps.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Utilized the TraCI interface to inject unpredictable, human-like behaviors into the agents. This includes custom algorithms for "Chaos Events" (rickshaws randomly stopping to drop passengers) and aggressive lane-changing, accurately modeling the disorder of South Asian traffic.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The simulation evolves through distinct time-of-day phases (Morning Rush, Mid-day Lull, Evening Rush) to test the network under varying loads. Real-time performance metrics (Queue Length, Wait Time, Chaos counts) are logged per direction ("Player") to CSV for data analysis.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24" name="Google Shape;224;g3ab97b24151_0_7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b97b24151_0_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ab97b24151_0_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4cd7f7247_0_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c4cd7f7247_0_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ba635e021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bba635e021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b97b24151_0_8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ab97b24151_0_8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b312a5bb3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bb312a5bb3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bb312a5bb3_0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bb312a5bb3_0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ae4cfdd30_0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cae4cfdd30_0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b312a5bb3_0_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bb312a5bb3_0_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b312a5bb3_0_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bb312a5bb3_0_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b312a5bb3_0_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bb312a5bb3_0_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4cd7f7247_0_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c4cd7f7247_0_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cae4cfdd30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g3cae4cfdd30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cae4cfdd30_0_5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cae4cfdd30_0_5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ae4cfdd30_0_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g3cae4cfdd30_0_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ae4cfdd30_0_3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3cae4cfdd30_0_3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ae4cfdd30_0_4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cae4cfdd30_0_4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c9321c835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g3cc9321c835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5aa576266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95aa576266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5aa576266_0_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95aa576266_0_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acb83cf13d_1_2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acb83cf13d_1_2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b97b24151_0_8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ab97b24151_0_8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idx="1" type="subTitle"/>
          </p:nvPr>
        </p:nvSpPr>
        <p:spPr>
          <a:xfrm>
            <a:off x="609480" y="273600"/>
            <a:ext cx="109725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609480" y="273600"/>
            <a:ext cx="10972500" cy="53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2" type="body"/>
          </p:nvPr>
        </p:nvSpPr>
        <p:spPr>
          <a:xfrm>
            <a:off x="623196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1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2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609480" y="1604520"/>
            <a:ext cx="53544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2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2"/>
          <p:cNvSpPr txBox="1"/>
          <p:nvPr>
            <p:ph idx="3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3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3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3"/>
          <p:cNvSpPr txBox="1"/>
          <p:nvPr>
            <p:ph idx="3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609480" y="160452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609480" y="3682080"/>
            <a:ext cx="109725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1" type="body"/>
          </p:nvPr>
        </p:nvSpPr>
        <p:spPr>
          <a:xfrm>
            <a:off x="60948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5"/>
          <p:cNvSpPr txBox="1"/>
          <p:nvPr>
            <p:ph idx="2" type="body"/>
          </p:nvPr>
        </p:nvSpPr>
        <p:spPr>
          <a:xfrm>
            <a:off x="6231960" y="160452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5"/>
          <p:cNvSpPr txBox="1"/>
          <p:nvPr>
            <p:ph idx="3" type="body"/>
          </p:nvPr>
        </p:nvSpPr>
        <p:spPr>
          <a:xfrm>
            <a:off x="60948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5"/>
          <p:cNvSpPr txBox="1"/>
          <p:nvPr>
            <p:ph idx="4" type="body"/>
          </p:nvPr>
        </p:nvSpPr>
        <p:spPr>
          <a:xfrm>
            <a:off x="6231960" y="3682080"/>
            <a:ext cx="53544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1" type="body"/>
          </p:nvPr>
        </p:nvSpPr>
        <p:spPr>
          <a:xfrm>
            <a:off x="60948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2" type="body"/>
          </p:nvPr>
        </p:nvSpPr>
        <p:spPr>
          <a:xfrm>
            <a:off x="431964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6"/>
          <p:cNvSpPr txBox="1"/>
          <p:nvPr>
            <p:ph idx="3" type="body"/>
          </p:nvPr>
        </p:nvSpPr>
        <p:spPr>
          <a:xfrm>
            <a:off x="8029800" y="160452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4" type="body"/>
          </p:nvPr>
        </p:nvSpPr>
        <p:spPr>
          <a:xfrm>
            <a:off x="60948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5" type="body"/>
          </p:nvPr>
        </p:nvSpPr>
        <p:spPr>
          <a:xfrm>
            <a:off x="431964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6"/>
          <p:cNvSpPr txBox="1"/>
          <p:nvPr>
            <p:ph idx="6" type="body"/>
          </p:nvPr>
        </p:nvSpPr>
        <p:spPr>
          <a:xfrm>
            <a:off x="8029800" y="3682080"/>
            <a:ext cx="3533100" cy="1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455400" cy="685620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 txBox="1"/>
          <p:nvPr>
            <p:ph idx="11" type="ftr"/>
          </p:nvPr>
        </p:nvSpPr>
        <p:spPr>
          <a:xfrm rot="-5400000">
            <a:off x="9959370" y="4048470"/>
            <a:ext cx="3579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 rot="-5400000">
            <a:off x="10797570" y="1000470"/>
            <a:ext cx="1903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11292840" y="0"/>
            <a:ext cx="912600" cy="68562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 rot="-5400000">
            <a:off x="9959370" y="4048470"/>
            <a:ext cx="3579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l">
              <a:spcBef>
                <a:spcPts val="0"/>
              </a:spcBef>
              <a:buNone/>
              <a:defRPr b="0" sz="2400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0" type="dt"/>
          </p:nvPr>
        </p:nvSpPr>
        <p:spPr>
          <a:xfrm rot="-5400000">
            <a:off x="10797570" y="1000470"/>
            <a:ext cx="1903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4"/>
          <p:cNvSpPr txBox="1"/>
          <p:nvPr>
            <p:ph type="title"/>
          </p:nvPr>
        </p:nvSpPr>
        <p:spPr>
          <a:xfrm>
            <a:off x="609480" y="273600"/>
            <a:ext cx="10972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609480" y="1604520"/>
            <a:ext cx="10972500" cy="3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Relationship Id="rId4" Type="http://schemas.openxmlformats.org/officeDocument/2006/relationships/image" Target="../media/image26.png"/><Relationship Id="rId5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25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24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43437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ational University of Computer and Emerging Sciences - Wikipedia" id="119" name="Google Shape;1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045" y="34720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7"/>
          <p:cNvSpPr/>
          <p:nvPr/>
        </p:nvSpPr>
        <p:spPr>
          <a:xfrm>
            <a:off x="1261800" y="264300"/>
            <a:ext cx="10593900" cy="404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FFFFFF"/>
                </a:solidFill>
              </a:rPr>
              <a:t>GameFlow Traffic Control (GTC)</a:t>
            </a:r>
            <a:r>
              <a:rPr lang="en-US" sz="4800" strike="noStrike">
                <a:solidFill>
                  <a:srgbClr val="FFFFFF"/>
                </a:solidFill>
              </a:rPr>
              <a:t> </a:t>
            </a:r>
            <a:br>
              <a:rPr lang="en-US" sz="1800"/>
            </a:br>
            <a:r>
              <a:rPr lang="en-US" sz="2400" strike="noStrike">
                <a:solidFill>
                  <a:srgbClr val="FFFFFF"/>
                </a:solidFill>
              </a:rPr>
              <a:t>A Game Theory Approach To Traffic Si</a:t>
            </a:r>
            <a:r>
              <a:rPr lang="en-US" sz="2400">
                <a:solidFill>
                  <a:srgbClr val="FFFFFF"/>
                </a:solidFill>
              </a:rPr>
              <a:t>gnal Optimization</a:t>
            </a:r>
            <a:br>
              <a:rPr lang="en-US" sz="1800"/>
            </a:br>
            <a:br>
              <a:rPr lang="en-US" sz="1800"/>
            </a:br>
            <a:br>
              <a:rPr lang="en-US" sz="1800"/>
            </a:br>
            <a:r>
              <a:rPr lang="en-US" sz="1800"/>
              <a:t> </a:t>
            </a:r>
            <a:endParaRPr sz="2400" strike="noStrike"/>
          </a:p>
        </p:txBody>
      </p:sp>
      <p:sp>
        <p:nvSpPr>
          <p:cNvPr id="121" name="Google Shape;121;p27"/>
          <p:cNvSpPr/>
          <p:nvPr/>
        </p:nvSpPr>
        <p:spPr>
          <a:xfrm>
            <a:off x="1261800" y="4305600"/>
            <a:ext cx="53157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Group Members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Syed Subhan Shah </a:t>
            </a:r>
            <a:r>
              <a:rPr lang="en-US" sz="2200">
                <a:solidFill>
                  <a:srgbClr val="BFBFBF"/>
                </a:solidFill>
              </a:rPr>
              <a:t>Bukhari</a:t>
            </a:r>
            <a:r>
              <a:rPr lang="en-US" sz="2200" strike="noStrike">
                <a:solidFill>
                  <a:srgbClr val="BFBFBF"/>
                </a:solidFill>
              </a:rPr>
              <a:t> (22P-9447)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Maaz Mustafa (22P-9405)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Moiz Ghazanfar(22P-9425)</a:t>
            </a:r>
            <a:endParaRPr sz="2200" strike="noStrike"/>
          </a:p>
        </p:txBody>
      </p:sp>
      <p:sp>
        <p:nvSpPr>
          <p:cNvPr id="122" name="Google Shape;122;p27"/>
          <p:cNvSpPr/>
          <p:nvPr/>
        </p:nvSpPr>
        <p:spPr>
          <a:xfrm>
            <a:off x="7156720" y="4305588"/>
            <a:ext cx="4866900" cy="16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Project Supervisor</a:t>
            </a:r>
            <a:endParaRPr sz="2200" strike="noStrike"/>
          </a:p>
          <a:p>
            <a:pPr indent="0" lvl="0" marL="0" marR="0" rtl="0" algn="l">
              <a:lnSpc>
                <a:spcPct val="95000"/>
              </a:lnSpc>
              <a:spcBef>
                <a:spcPts val="1599"/>
              </a:spcBef>
              <a:spcAft>
                <a:spcPts val="0"/>
              </a:spcAft>
              <a:buNone/>
            </a:pPr>
            <a:r>
              <a:rPr lang="en-US" sz="2200" strike="noStrike">
                <a:solidFill>
                  <a:srgbClr val="BFBFBF"/>
                </a:solidFill>
              </a:rPr>
              <a:t>Mr. Usama Musharaf</a:t>
            </a:r>
            <a:endParaRPr sz="2200" strike="noStrike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/>
        </p:nvSpPr>
        <p:spPr>
          <a:xfrm>
            <a:off x="682920" y="571590"/>
            <a:ext cx="9690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Table of content</a:t>
            </a:r>
            <a:endParaRPr sz="4000" strike="noStrike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128" name="Google Shape;12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70185" y="177990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8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30" name="Google Shape;130;p28"/>
          <p:cNvSpPr/>
          <p:nvPr/>
        </p:nvSpPr>
        <p:spPr>
          <a:xfrm>
            <a:off x="6613920" y="6088320"/>
            <a:ext cx="3234960" cy="3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 txBox="1"/>
          <p:nvPr/>
        </p:nvSpPr>
        <p:spPr>
          <a:xfrm>
            <a:off x="682920" y="1562400"/>
            <a:ext cx="6212100" cy="52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Problem Statement</a:t>
            </a:r>
            <a:endParaRPr sz="2000" strike="noStrike">
              <a:solidFill>
                <a:schemeClr val="lt1"/>
              </a:solidFill>
            </a:endParaRPr>
          </a:p>
          <a:p>
            <a:pPr indent="-412659" lvl="0" marL="53963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Literature Review</a:t>
            </a:r>
            <a:endParaRPr sz="2000">
              <a:solidFill>
                <a:schemeClr val="lt1"/>
              </a:solidFill>
            </a:endParaRPr>
          </a:p>
          <a:p>
            <a:pPr indent="-412659" lvl="0" marL="53963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Diagrams</a:t>
            </a:r>
            <a:endParaRPr sz="2000">
              <a:solidFill>
                <a:schemeClr val="lt1"/>
              </a:solidFill>
            </a:endParaRPr>
          </a:p>
          <a:p>
            <a:pPr indent="-412659" lvl="0" marL="53963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SUMO &amp; TraCi</a:t>
            </a:r>
            <a:endParaRPr sz="2000">
              <a:solidFill>
                <a:schemeClr val="lt1"/>
              </a:solidFill>
            </a:endParaRPr>
          </a:p>
          <a:p>
            <a:pPr indent="-412659" lvl="0" marL="539639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Demo and Results Version 01</a:t>
            </a:r>
            <a:endParaRPr sz="2000">
              <a:solidFill>
                <a:schemeClr val="lt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Demo and Results Version 02</a:t>
            </a:r>
            <a:endParaRPr sz="2000" strike="noStrike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>
                <a:solidFill>
                  <a:schemeClr val="lt1"/>
                </a:solidFill>
              </a:rPr>
              <a:t>Application Prototype</a:t>
            </a:r>
            <a:endParaRPr sz="2000" strike="noStrike">
              <a:solidFill>
                <a:schemeClr val="lt1"/>
              </a:solidFill>
            </a:endParaRPr>
          </a:p>
          <a:p>
            <a:pPr indent="-412660" lvl="0" marL="53964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romanUcPeriod"/>
            </a:pPr>
            <a:r>
              <a:rPr lang="en-US" sz="2000" strike="noStrike">
                <a:solidFill>
                  <a:schemeClr val="lt1"/>
                </a:solidFill>
              </a:rPr>
              <a:t>References</a:t>
            </a:r>
            <a:endParaRPr sz="2000" strike="noStrike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/>
        </p:nvSpPr>
        <p:spPr>
          <a:xfrm>
            <a:off x="800280" y="91004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Problem Statement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37" name="Google Shape;137;p29"/>
          <p:cNvSpPr txBox="1"/>
          <p:nvPr/>
        </p:nvSpPr>
        <p:spPr>
          <a:xfrm>
            <a:off x="360530" y="1988275"/>
            <a:ext cx="5335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strike="noStrike">
                <a:solidFill>
                  <a:schemeClr val="lt1"/>
                </a:solidFill>
              </a:rPr>
              <a:t>“Conventional traffic signals use fixed-time cycles, which are inefficient a</a:t>
            </a:r>
            <a:r>
              <a:rPr lang="en-US" sz="2400">
                <a:solidFill>
                  <a:schemeClr val="lt1"/>
                </a:solidFill>
              </a:rPr>
              <a:t>s they</a:t>
            </a:r>
            <a:r>
              <a:rPr lang="en-US" sz="2400" strike="noStrike">
                <a:solidFill>
                  <a:schemeClr val="lt1"/>
                </a:solidFill>
              </a:rPr>
              <a:t> cannot adapt to real-time traffic fluctuations, leading to unnecessary congestion and long delays.”</a:t>
            </a:r>
            <a:endParaRPr sz="2400" strike="noStrike">
              <a:solidFill>
                <a:schemeClr val="lt1"/>
              </a:solidFill>
            </a:endParaRPr>
          </a:p>
        </p:txBody>
      </p:sp>
      <p:sp>
        <p:nvSpPr>
          <p:cNvPr id="138" name="Google Shape;138;p29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/Users/Subha/OneDrive/Desktop/slide3.jpgslide3" id="139" name="Google Shape;139;p29"/>
          <p:cNvPicPr preferRelativeResize="0"/>
          <p:nvPr/>
        </p:nvPicPr>
        <p:blipFill rotWithShape="1">
          <a:blip r:embed="rId3">
            <a:alphaModFix/>
          </a:blip>
          <a:srcRect b="0" l="13634" r="13634" t="0"/>
          <a:stretch/>
        </p:blipFill>
        <p:spPr>
          <a:xfrm>
            <a:off x="6070555" y="1588655"/>
            <a:ext cx="4637880" cy="424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40" name="Google Shape;1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385" y="118040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0"/>
          <p:cNvSpPr txBox="1"/>
          <p:nvPr/>
        </p:nvSpPr>
        <p:spPr>
          <a:xfrm>
            <a:off x="307805" y="269870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Literature Review: Performance Evaluation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46" name="Google Shape;146;p3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" name="Google Shape;147;p30" title="Screenshot 2025-12-02 2136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00" y="948475"/>
            <a:ext cx="9690900" cy="541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48" name="Google Shape;14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/>
        </p:nvSpPr>
        <p:spPr>
          <a:xfrm>
            <a:off x="180150" y="196900"/>
            <a:ext cx="104925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Literature Review: Performance Comparison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154" name="Google Shape;154;p31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4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149" y="1009174"/>
            <a:ext cx="9979200" cy="54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156" name="Google Shape;15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2"/>
          <p:cNvSpPr txBox="1"/>
          <p:nvPr/>
        </p:nvSpPr>
        <p:spPr>
          <a:xfrm>
            <a:off x="362530" y="251620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The ‘Black Box’ Problem</a:t>
            </a:r>
            <a:endParaRPr b="1" sz="2500" strike="noStrike">
              <a:solidFill>
                <a:schemeClr val="lt1"/>
              </a:solidFill>
            </a:endParaRPr>
          </a:p>
        </p:txBody>
      </p:sp>
      <p:sp>
        <p:nvSpPr>
          <p:cNvPr id="162" name="Google Shape;162;p32"/>
          <p:cNvSpPr txBox="1"/>
          <p:nvPr/>
        </p:nvSpPr>
        <p:spPr>
          <a:xfrm>
            <a:off x="362525" y="1136400"/>
            <a:ext cx="10690500" cy="50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Reinforcement Learning: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lt1"/>
                </a:solidFill>
              </a:rPr>
              <a:t>“Complex and opaque neural networks hard to understand and debug"</a:t>
            </a:r>
            <a:r>
              <a:rPr lang="en-US" sz="2100">
                <a:solidFill>
                  <a:schemeClr val="lt1"/>
                </a:solidFill>
              </a:rPr>
              <a:t> (Chen et al., 2022)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Cannot explain why a decision was made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Safety-critical systems require transparency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Genetic Algorithms: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lt1"/>
                </a:solidFill>
              </a:rPr>
              <a:t>"Survival of the fittest"</a:t>
            </a:r>
            <a:r>
              <a:rPr lang="en-US" sz="2100">
                <a:solidFill>
                  <a:schemeClr val="lt1"/>
                </a:solidFill>
              </a:rPr>
              <a:t> is not an engineering explanation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No clear decision logic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Difficult to validate and tune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lt1"/>
                </a:solidFill>
              </a:rPr>
              <a:t>Game Theory:</a:t>
            </a:r>
            <a:endParaRPr b="1"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Clear payoff functions: U = -(α·Wait + β·Delay + γ·Queue)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Engineers understand WHY decisions are made</a:t>
            </a:r>
            <a:endParaRPr sz="21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>
                <a:solidFill>
                  <a:schemeClr val="lt1"/>
                </a:solidFill>
              </a:rPr>
              <a:t>Easy to validate and adjust</a:t>
            </a:r>
            <a:endParaRPr sz="2100">
              <a:solidFill>
                <a:schemeClr val="lt1"/>
              </a:solidFill>
            </a:endParaRPr>
          </a:p>
        </p:txBody>
      </p:sp>
      <p:sp>
        <p:nvSpPr>
          <p:cNvPr id="163" name="Google Shape;163;p32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5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64" name="Google Shape;16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/>
        </p:nvSpPr>
        <p:spPr>
          <a:xfrm>
            <a:off x="800280" y="48874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Timeline &amp; Our Contribution</a:t>
            </a:r>
            <a:endParaRPr b="1" sz="2500" strike="noStrike">
              <a:solidFill>
                <a:schemeClr val="lt1"/>
              </a:solidFill>
            </a:endParaRPr>
          </a:p>
        </p:txBody>
      </p:sp>
      <p:sp>
        <p:nvSpPr>
          <p:cNvPr id="170" name="Google Shape;170;p33"/>
          <p:cNvSpPr txBox="1"/>
          <p:nvPr/>
        </p:nvSpPr>
        <p:spPr>
          <a:xfrm>
            <a:off x="568976" y="1329650"/>
            <a:ext cx="10153500" cy="20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1970s ━━━━━ SCOOT/SCATS Development (Game Theory-based)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1976  ━━━━━ First SCOOT Deployment (Glasgow)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1980s ━━━━━ SCATS Deployment (Australia → US)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2000s ━━━━━ GA Research Begins (simulation only)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2010s ━━━━━ RL Research Surge (simulation only)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2019  ━━━━━ Zaied et al.: 457 intersections (Game Theory) 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2022  ━━━━━ Chen et al. Review: "RL never deployed" 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2023  ━━━━━ Wang et al.: Queue Equilibrium (Game Theory)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2025  ━━━━━ Our FYP: Game Theory in Pakistan</a:t>
            </a:r>
            <a:endParaRPr sz="20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Our Adaptation:</a:t>
            </a:r>
            <a:endParaRPr b="1"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Modified for multiple timeslots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Calibrated for mixed traffic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2-phase system (NS + EW)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Nash Equilibrium optimization</a:t>
            </a:r>
            <a:endParaRPr sz="2000">
              <a:solidFill>
                <a:schemeClr val="lt1"/>
              </a:solidFill>
            </a:endParaRPr>
          </a:p>
          <a:p>
            <a:pPr indent="-3556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>
                <a:solidFill>
                  <a:schemeClr val="lt1"/>
                </a:solidFill>
              </a:rPr>
              <a:t>SUMO simulation validation</a:t>
            </a:r>
            <a:endParaRPr sz="17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171" name="Google Shape;171;p33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6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172" name="Google Shape;17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178" name="Google Shape;178;p34"/>
          <p:cNvSpPr txBox="1"/>
          <p:nvPr/>
        </p:nvSpPr>
        <p:spPr>
          <a:xfrm>
            <a:off x="440855" y="336975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Updated </a:t>
            </a:r>
            <a:r>
              <a:rPr lang="en-US" sz="4000" strike="noStrike">
                <a:solidFill>
                  <a:schemeClr val="lt1"/>
                </a:solidFill>
              </a:rPr>
              <a:t>Workflow Diagram</a:t>
            </a:r>
            <a:endParaRPr sz="4000" strike="noStrike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179" name="Google Shape;17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34" title="WorkFlowDiagram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25150"/>
            <a:ext cx="11140450" cy="377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4"/>
          <p:cNvSpPr txBox="1"/>
          <p:nvPr/>
        </p:nvSpPr>
        <p:spPr>
          <a:xfrm>
            <a:off x="498925" y="2392600"/>
            <a:ext cx="9126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Traffic</a:t>
            </a:r>
            <a:endParaRPr sz="1800"/>
          </a:p>
        </p:txBody>
      </p:sp>
      <p:sp>
        <p:nvSpPr>
          <p:cNvPr id="182" name="Google Shape;182;p34"/>
          <p:cNvSpPr txBox="1"/>
          <p:nvPr/>
        </p:nvSpPr>
        <p:spPr>
          <a:xfrm>
            <a:off x="246475" y="3197675"/>
            <a:ext cx="14175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Detectors</a:t>
            </a:r>
            <a:endParaRPr sz="1800"/>
          </a:p>
        </p:txBody>
      </p:sp>
      <p:sp>
        <p:nvSpPr>
          <p:cNvPr id="183" name="Google Shape;183;p34"/>
          <p:cNvSpPr txBox="1"/>
          <p:nvPr/>
        </p:nvSpPr>
        <p:spPr>
          <a:xfrm>
            <a:off x="0" y="4138650"/>
            <a:ext cx="15762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Intersection</a:t>
            </a:r>
            <a:endParaRPr sz="1800"/>
          </a:p>
        </p:txBody>
      </p:sp>
      <p:sp>
        <p:nvSpPr>
          <p:cNvPr id="184" name="Google Shape;184;p34"/>
          <p:cNvSpPr txBox="1"/>
          <p:nvPr/>
        </p:nvSpPr>
        <p:spPr>
          <a:xfrm>
            <a:off x="2131775" y="2982225"/>
            <a:ext cx="12813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Run SUMO</a:t>
            </a:r>
            <a:endParaRPr sz="1800"/>
          </a:p>
        </p:txBody>
      </p:sp>
      <p:sp>
        <p:nvSpPr>
          <p:cNvPr id="185" name="Google Shape;185;p34"/>
          <p:cNvSpPr txBox="1"/>
          <p:nvPr/>
        </p:nvSpPr>
        <p:spPr>
          <a:xfrm>
            <a:off x="4025450" y="2949375"/>
            <a:ext cx="1281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Generate input data</a:t>
            </a:r>
            <a:endParaRPr sz="1800"/>
          </a:p>
        </p:txBody>
      </p:sp>
      <p:sp>
        <p:nvSpPr>
          <p:cNvPr id="186" name="Google Shape;186;p34"/>
          <p:cNvSpPr txBox="1"/>
          <p:nvPr/>
        </p:nvSpPr>
        <p:spPr>
          <a:xfrm>
            <a:off x="6032500" y="2165800"/>
            <a:ext cx="9126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waiting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time</a:t>
            </a:r>
            <a:endParaRPr sz="1800"/>
          </a:p>
        </p:txBody>
      </p:sp>
      <p:sp>
        <p:nvSpPr>
          <p:cNvPr id="187" name="Google Shape;187;p34"/>
          <p:cNvSpPr txBox="1"/>
          <p:nvPr/>
        </p:nvSpPr>
        <p:spPr>
          <a:xfrm>
            <a:off x="6043850" y="2993575"/>
            <a:ext cx="9126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queue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length</a:t>
            </a:r>
            <a:endParaRPr sz="1800"/>
          </a:p>
        </p:txBody>
      </p:sp>
      <p:sp>
        <p:nvSpPr>
          <p:cNvPr id="188" name="Google Shape;188;p34"/>
          <p:cNvSpPr txBox="1"/>
          <p:nvPr/>
        </p:nvSpPr>
        <p:spPr>
          <a:xfrm>
            <a:off x="5975825" y="3821350"/>
            <a:ext cx="1470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unserved vehicles</a:t>
            </a:r>
            <a:endParaRPr sz="1800"/>
          </a:p>
        </p:txBody>
      </p:sp>
      <p:sp>
        <p:nvSpPr>
          <p:cNvPr id="189" name="Google Shape;189;p34"/>
          <p:cNvSpPr txBox="1"/>
          <p:nvPr/>
        </p:nvSpPr>
        <p:spPr>
          <a:xfrm>
            <a:off x="7761600" y="2949375"/>
            <a:ext cx="12813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calculate payoff</a:t>
            </a:r>
            <a:endParaRPr sz="1800"/>
          </a:p>
        </p:txBody>
      </p:sp>
      <p:sp>
        <p:nvSpPr>
          <p:cNvPr id="190" name="Google Shape;190;p34"/>
          <p:cNvSpPr txBox="1"/>
          <p:nvPr/>
        </p:nvSpPr>
        <p:spPr>
          <a:xfrm>
            <a:off x="8833300" y="2131775"/>
            <a:ext cx="1099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define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players</a:t>
            </a:r>
            <a:endParaRPr sz="1800"/>
          </a:p>
        </p:txBody>
      </p:sp>
      <p:sp>
        <p:nvSpPr>
          <p:cNvPr id="191" name="Google Shape;191;p34"/>
          <p:cNvSpPr txBox="1"/>
          <p:nvPr/>
        </p:nvSpPr>
        <p:spPr>
          <a:xfrm>
            <a:off x="9848050" y="2982225"/>
            <a:ext cx="12813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compute nash</a:t>
            </a:r>
            <a:endParaRPr sz="1800"/>
          </a:p>
        </p:txBody>
      </p:sp>
      <p:sp>
        <p:nvSpPr>
          <p:cNvPr id="192" name="Google Shape;192;p34"/>
          <p:cNvSpPr txBox="1"/>
          <p:nvPr/>
        </p:nvSpPr>
        <p:spPr>
          <a:xfrm>
            <a:off x="9933100" y="4002775"/>
            <a:ext cx="14706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generate signals</a:t>
            </a:r>
            <a:endParaRPr sz="1800"/>
          </a:p>
        </p:txBody>
      </p:sp>
      <p:sp>
        <p:nvSpPr>
          <p:cNvPr id="193" name="Google Shape;193;p34"/>
          <p:cNvSpPr txBox="1"/>
          <p:nvPr/>
        </p:nvSpPr>
        <p:spPr>
          <a:xfrm>
            <a:off x="9676275" y="5020988"/>
            <a:ext cx="18708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feed signals back to SUMO</a:t>
            </a:r>
            <a:endParaRPr sz="1800"/>
          </a:p>
        </p:txBody>
      </p:sp>
      <p:sp>
        <p:nvSpPr>
          <p:cNvPr id="194" name="Google Shape;194;p34"/>
          <p:cNvSpPr txBox="1"/>
          <p:nvPr/>
        </p:nvSpPr>
        <p:spPr>
          <a:xfrm>
            <a:off x="7546225" y="4898425"/>
            <a:ext cx="1870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Optimize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traffic and wait for next input</a:t>
            </a:r>
            <a:endParaRPr sz="1800"/>
          </a:p>
        </p:txBody>
      </p:sp>
      <p:cxnSp>
        <p:nvCxnSpPr>
          <p:cNvPr id="195" name="Google Shape;195;p34"/>
          <p:cNvCxnSpPr>
            <a:stCxn id="194" idx="1"/>
          </p:cNvCxnSpPr>
          <p:nvPr/>
        </p:nvCxnSpPr>
        <p:spPr>
          <a:xfrm flipH="1">
            <a:off x="4694425" y="5401375"/>
            <a:ext cx="2851800" cy="30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" name="Google Shape;196;p34"/>
          <p:cNvCxnSpPr/>
          <p:nvPr/>
        </p:nvCxnSpPr>
        <p:spPr>
          <a:xfrm rot="-10386349">
            <a:off x="4567481" y="3693962"/>
            <a:ext cx="212436" cy="1737359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  <a:effectLst>
            <a:reflection blurRad="0" dir="0" dist="0" endA="0" fadeDir="5400012" kx="0" rotWithShape="0" algn="bl" stPos="0" sy="-100000" ky="0"/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/>
        </p:nvSpPr>
        <p:spPr>
          <a:xfrm>
            <a:off x="578165" y="178190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 Updated </a:t>
            </a:r>
            <a:r>
              <a:rPr lang="en-US" sz="4000" strike="noStrike">
                <a:solidFill>
                  <a:schemeClr val="lt1"/>
                </a:solidFill>
              </a:rPr>
              <a:t>Use-Case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02" name="Google Shape;202;p35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7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203" name="Google Shape;2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5" title="WhatsApp Image 2026-03-04 at 1.59.56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6600" y="1140715"/>
            <a:ext cx="7610475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/>
        </p:nvSpPr>
        <p:spPr>
          <a:xfrm>
            <a:off x="130530" y="464650"/>
            <a:ext cx="9690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Architecture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10" name="Google Shape;210;p36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pic>
        <p:nvPicPr>
          <p:cNvPr descr="National University of Computer and Emerging Sciences - Wikipedia" id="211" name="Google Shape;21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36" title="WhatsApp Image 2026-03-03 at 11.52.28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525" y="1840000"/>
            <a:ext cx="11079524" cy="3314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7"/>
          <p:cNvSpPr txBox="1"/>
          <p:nvPr/>
        </p:nvSpPr>
        <p:spPr>
          <a:xfrm>
            <a:off x="630725" y="411850"/>
            <a:ext cx="5388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strike="noStrike">
                <a:solidFill>
                  <a:schemeClr val="lt1"/>
                </a:solidFill>
              </a:rPr>
              <a:t>Activity Diagram</a:t>
            </a:r>
            <a:endParaRPr sz="4000" strike="noStrike">
              <a:solidFill>
                <a:schemeClr val="lt1"/>
              </a:solidFill>
            </a:endParaRPr>
          </a:p>
        </p:txBody>
      </p:sp>
      <p:sp>
        <p:nvSpPr>
          <p:cNvPr id="218" name="Google Shape;218;p37"/>
          <p:cNvSpPr txBox="1"/>
          <p:nvPr/>
        </p:nvSpPr>
        <p:spPr>
          <a:xfrm>
            <a:off x="1129320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10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19" name="Google Shape;21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7" title="WhatsApp Image 2026-03-03 at 11.26.24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725" y="1235650"/>
            <a:ext cx="9952635" cy="53175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" name="Google Shape;221;p37"/>
          <p:cNvCxnSpPr/>
          <p:nvPr/>
        </p:nvCxnSpPr>
        <p:spPr>
          <a:xfrm flipH="1">
            <a:off x="5669550" y="6168575"/>
            <a:ext cx="2464500" cy="1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/>
        </p:nvSpPr>
        <p:spPr>
          <a:xfrm>
            <a:off x="800280" y="488745"/>
            <a:ext cx="96909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SUMO and TraCI</a:t>
            </a:r>
            <a:endParaRPr b="1" sz="2500" strike="noStrike">
              <a:solidFill>
                <a:schemeClr val="lt1"/>
              </a:solidFill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11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8"/>
          <p:cNvSpPr txBox="1"/>
          <p:nvPr/>
        </p:nvSpPr>
        <p:spPr>
          <a:xfrm>
            <a:off x="875500" y="1475450"/>
            <a:ext cx="10013400" cy="50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500">
                <a:solidFill>
                  <a:schemeClr val="lt1"/>
                </a:solidFill>
              </a:rPr>
              <a:t>Dynamic Network Generation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500">
                <a:solidFill>
                  <a:schemeClr val="lt1"/>
                </a:solidFill>
              </a:rPr>
              <a:t>High-Fidelity Mixed-Traffic Physics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500">
                <a:solidFill>
                  <a:schemeClr val="lt1"/>
                </a:solidFill>
              </a:rPr>
              <a:t>TraCI-Based Stochastic "Chaos”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Char char="●"/>
            </a:pPr>
            <a:r>
              <a:rPr lang="en-US" sz="2500">
                <a:solidFill>
                  <a:schemeClr val="lt1"/>
                </a:solidFill>
              </a:rPr>
              <a:t>Dynamic Temporal Phases &amp; Analytics</a:t>
            </a:r>
            <a:endParaRPr sz="25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229" name="Google Shape;22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/>
        </p:nvSpPr>
        <p:spPr>
          <a:xfrm>
            <a:off x="164950" y="257714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Fixed Timed Signals </a:t>
            </a:r>
            <a:endParaRPr sz="7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(Base Model)</a:t>
            </a:r>
            <a:r>
              <a:rPr lang="en-US" sz="7000">
                <a:solidFill>
                  <a:schemeClr val="lt1"/>
                </a:solidFill>
              </a:rPr>
              <a:t> 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235" name="Google Shape;235;p39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36" name="Google Shape;23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13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40"/>
          <p:cNvSpPr txBox="1"/>
          <p:nvPr/>
        </p:nvSpPr>
        <p:spPr>
          <a:xfrm>
            <a:off x="90725" y="123473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Version 1</a:t>
            </a:r>
            <a:r>
              <a:rPr lang="en-US" sz="7000">
                <a:solidFill>
                  <a:schemeClr val="lt1"/>
                </a:solidFill>
              </a:rPr>
              <a:t> </a:t>
            </a:r>
            <a:endParaRPr sz="7000" strike="noStrike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243" name="Google Shape;24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0"/>
          <p:cNvSpPr txBox="1"/>
          <p:nvPr/>
        </p:nvSpPr>
        <p:spPr>
          <a:xfrm>
            <a:off x="98975" y="1122475"/>
            <a:ext cx="11111400" cy="48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Constant Variables: 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Type of Traffic: Mix and Aggressive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Time Slots = {Early Morning, Afternoon, Evening}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Number of Vehicles per each direction = 10200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Strategy Set = {Red, Yellow, Green}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Number of players = 2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Changing Variables for Version 01: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Sliplanes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lt1"/>
                </a:solidFill>
              </a:rPr>
              <a:t>Payoff = (α)QueueLength</a:t>
            </a:r>
            <a:endParaRPr sz="3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1"/>
          <p:cNvSpPr txBox="1"/>
          <p:nvPr/>
        </p:nvSpPr>
        <p:spPr>
          <a:xfrm>
            <a:off x="164950" y="123473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Fixed Timed </a:t>
            </a:r>
            <a:r>
              <a:rPr lang="en-US" sz="4000">
                <a:solidFill>
                  <a:srgbClr val="BFBFBF"/>
                </a:solidFill>
              </a:rPr>
              <a:t>Model</a:t>
            </a:r>
            <a:r>
              <a:rPr lang="en-US" sz="7000">
                <a:solidFill>
                  <a:schemeClr val="lt1"/>
                </a:solidFill>
              </a:rPr>
              <a:t> 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250" name="Google Shape;250;p41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14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1" name="Google Shape;251;p41" title="Screenshot 2026-01-21 115723.png"/>
          <p:cNvPicPr preferRelativeResize="0"/>
          <p:nvPr/>
        </p:nvPicPr>
        <p:blipFill rotWithShape="1">
          <a:blip r:embed="rId3">
            <a:alphaModFix/>
          </a:blip>
          <a:srcRect b="18040" l="0" r="33262" t="15831"/>
          <a:stretch/>
        </p:blipFill>
        <p:spPr>
          <a:xfrm>
            <a:off x="164950" y="1057875"/>
            <a:ext cx="9882624" cy="55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1"/>
          <p:cNvSpPr txBox="1"/>
          <p:nvPr/>
        </p:nvSpPr>
        <p:spPr>
          <a:xfrm>
            <a:off x="1039625" y="4004325"/>
            <a:ext cx="51252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Total Catastrophe</a:t>
            </a:r>
            <a:endParaRPr sz="70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253" name="Google Shape;25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/>
        </p:nvSpPr>
        <p:spPr>
          <a:xfrm>
            <a:off x="659725" y="2771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Fixed Timed Model </a:t>
            </a:r>
            <a:endParaRPr sz="4000" strike="noStrike">
              <a:solidFill>
                <a:srgbClr val="BFBFBF"/>
              </a:solidFill>
            </a:endParaRPr>
          </a:p>
        </p:txBody>
      </p:sp>
      <p:sp>
        <p:nvSpPr>
          <p:cNvPr id="259" name="Google Shape;259;p42"/>
          <p:cNvSpPr txBox="1"/>
          <p:nvPr/>
        </p:nvSpPr>
        <p:spPr>
          <a:xfrm>
            <a:off x="583650" y="1003175"/>
            <a:ext cx="10305300" cy="5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North &amp; South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</a:rPr>
              <a:t>Speed:</a:t>
            </a:r>
            <a:r>
              <a:rPr lang="en-US" sz="3000">
                <a:solidFill>
                  <a:schemeClr val="lt1"/>
                </a:solidFill>
              </a:rPr>
              <a:t> 0.03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Travel Time:</a:t>
            </a:r>
            <a:r>
              <a:rPr lang="en-US" sz="3000">
                <a:solidFill>
                  <a:schemeClr val="lt1"/>
                </a:solidFill>
              </a:rPr>
              <a:t> 1132.37 seconds.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Teleporting:</a:t>
            </a:r>
            <a:r>
              <a:rPr lang="en-US" sz="3000">
                <a:solidFill>
                  <a:schemeClr val="lt1"/>
                </a:solidFill>
              </a:rPr>
              <a:t> 36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West &amp; East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Speed:</a:t>
            </a:r>
            <a:r>
              <a:rPr lang="en-US" sz="3000">
                <a:solidFill>
                  <a:schemeClr val="lt1"/>
                </a:solidFill>
              </a:rPr>
              <a:t> 0.40 to 0.47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Travel Time:</a:t>
            </a:r>
            <a:r>
              <a:rPr lang="en-US" sz="3000">
                <a:solidFill>
                  <a:schemeClr val="lt1"/>
                </a:solidFill>
              </a:rPr>
              <a:t> ~65–75 seconds.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Spillback along with Unfairness!</a:t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260" name="Google Shape;26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2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15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3"/>
          <p:cNvSpPr txBox="1"/>
          <p:nvPr/>
        </p:nvSpPr>
        <p:spPr>
          <a:xfrm>
            <a:off x="164950" y="257714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Game Theory</a:t>
            </a:r>
            <a:r>
              <a:rPr lang="en-US" sz="7000">
                <a:solidFill>
                  <a:schemeClr val="lt1"/>
                </a:solidFill>
              </a:rPr>
              <a:t> Solution </a:t>
            </a:r>
            <a:endParaRPr sz="70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</a:rPr>
              <a:t>(With Slip Streams)</a:t>
            </a:r>
            <a:r>
              <a:rPr lang="en-US" sz="7000">
                <a:solidFill>
                  <a:schemeClr val="lt1"/>
                </a:solidFill>
              </a:rPr>
              <a:t> 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267" name="Google Shape;267;p43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16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268" name="Google Shape;26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/>
        </p:nvSpPr>
        <p:spPr>
          <a:xfrm>
            <a:off x="128288" y="123473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Game Theory</a:t>
            </a:r>
            <a:r>
              <a:rPr lang="en-US" sz="4000">
                <a:solidFill>
                  <a:srgbClr val="BFBFBF"/>
                </a:solidFill>
              </a:rPr>
              <a:t> Model</a:t>
            </a:r>
            <a:r>
              <a:rPr lang="en-US" sz="7000">
                <a:solidFill>
                  <a:schemeClr val="lt1"/>
                </a:solidFill>
              </a:rPr>
              <a:t> 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274" name="Google Shape;274;p44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17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5" name="Google Shape;275;p44" title="Screenshot 2026-01-21 204152.png"/>
          <p:cNvPicPr preferRelativeResize="0"/>
          <p:nvPr/>
        </p:nvPicPr>
        <p:blipFill rotWithShape="1">
          <a:blip r:embed="rId3">
            <a:alphaModFix/>
          </a:blip>
          <a:srcRect b="456" l="0" r="0" t="456"/>
          <a:stretch/>
        </p:blipFill>
        <p:spPr>
          <a:xfrm>
            <a:off x="203750" y="1003150"/>
            <a:ext cx="9882624" cy="550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4"/>
          <p:cNvSpPr txBox="1"/>
          <p:nvPr/>
        </p:nvSpPr>
        <p:spPr>
          <a:xfrm>
            <a:off x="893725" y="3894900"/>
            <a:ext cx="51252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980000"/>
                </a:solidFill>
              </a:rPr>
              <a:t>Empty Junction</a:t>
            </a:r>
            <a:endParaRPr sz="7000">
              <a:solidFill>
                <a:srgbClr val="980000"/>
              </a:solidFill>
            </a:endParaRPr>
          </a:p>
        </p:txBody>
      </p:sp>
      <p:pic>
        <p:nvPicPr>
          <p:cNvPr descr="National University of Computer and Emerging Sciences - Wikipedia" id="277" name="Google Shape;27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5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8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3" name="Google Shape;283;p45" title="GT Simple Payoff Avg QueueTime.png"/>
          <p:cNvPicPr preferRelativeResize="0"/>
          <p:nvPr/>
        </p:nvPicPr>
        <p:blipFill rotWithShape="1">
          <a:blip r:embed="rId3">
            <a:alphaModFix/>
          </a:blip>
          <a:srcRect b="0" l="3138" r="0" t="0"/>
          <a:stretch/>
        </p:blipFill>
        <p:spPr>
          <a:xfrm>
            <a:off x="4942875" y="3166025"/>
            <a:ext cx="6270325" cy="345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5"/>
          <p:cNvSpPr txBox="1"/>
          <p:nvPr/>
        </p:nvSpPr>
        <p:spPr>
          <a:xfrm>
            <a:off x="127675" y="4468500"/>
            <a:ext cx="105606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Game Theory </a:t>
            </a:r>
            <a:r>
              <a:rPr lang="en-US" sz="4000">
                <a:solidFill>
                  <a:srgbClr val="BFBFBF"/>
                </a:solidFill>
              </a:rPr>
              <a:t>Model</a:t>
            </a:r>
            <a:r>
              <a:rPr lang="en-US" sz="7000">
                <a:solidFill>
                  <a:schemeClr val="lt1"/>
                </a:solidFill>
              </a:rPr>
              <a:t> </a:t>
            </a:r>
            <a:endParaRPr sz="4000" strike="noStrike">
              <a:solidFill>
                <a:srgbClr val="BFBFBF"/>
              </a:solidFill>
            </a:endParaRPr>
          </a:p>
        </p:txBody>
      </p:sp>
      <p:pic>
        <p:nvPicPr>
          <p:cNvPr descr="National University of Computer and Emerging Sciences - Wikipedia" id="285" name="Google Shape;28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5" title="Base Simple Payoff Avg QueueTim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2400"/>
            <a:ext cx="6491628" cy="345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5"/>
          <p:cNvSpPr txBox="1"/>
          <p:nvPr/>
        </p:nvSpPr>
        <p:spPr>
          <a:xfrm>
            <a:off x="6764000" y="1145150"/>
            <a:ext cx="105606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Fixed Timed</a:t>
            </a:r>
            <a:endParaRPr sz="4000" strike="noStrike">
              <a:solidFill>
                <a:srgbClr val="BFBFB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6"/>
          <p:cNvSpPr txBox="1"/>
          <p:nvPr/>
        </p:nvSpPr>
        <p:spPr>
          <a:xfrm>
            <a:off x="659725" y="2771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Analysis of GT Solution and </a:t>
            </a:r>
            <a:r>
              <a:rPr lang="en-US" sz="4000">
                <a:solidFill>
                  <a:srgbClr val="BFBFBF"/>
                </a:solidFill>
              </a:rPr>
              <a:t>Comparison</a:t>
            </a:r>
            <a:r>
              <a:rPr lang="en-US" sz="4000">
                <a:solidFill>
                  <a:srgbClr val="BFBFBF"/>
                </a:solidFill>
              </a:rPr>
              <a:t> </a:t>
            </a:r>
            <a:endParaRPr sz="4000" strike="noStrike">
              <a:solidFill>
                <a:srgbClr val="BFBFBF"/>
              </a:solidFill>
            </a:endParaRPr>
          </a:p>
        </p:txBody>
      </p:sp>
      <p:sp>
        <p:nvSpPr>
          <p:cNvPr id="293" name="Google Shape;293;p46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1</a:t>
            </a: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9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46"/>
          <p:cNvSpPr txBox="1"/>
          <p:nvPr/>
        </p:nvSpPr>
        <p:spPr>
          <a:xfrm>
            <a:off x="583650" y="1003175"/>
            <a:ext cx="10305300" cy="5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</a:rPr>
              <a:t>Average Waiting Time = ~ 500 sec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chemeClr val="lt1"/>
                </a:solidFill>
              </a:rPr>
              <a:t>Average Queue Time = 37 sec</a:t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Game Theory was the Solution but had more average waiting time(base </a:t>
            </a:r>
            <a:r>
              <a:rPr b="1" lang="en-US" sz="3000">
                <a:solidFill>
                  <a:schemeClr val="lt1"/>
                </a:solidFill>
              </a:rPr>
              <a:t>model</a:t>
            </a:r>
            <a:r>
              <a:rPr b="1" lang="en-US" sz="3000">
                <a:solidFill>
                  <a:schemeClr val="lt1"/>
                </a:solidFill>
              </a:rPr>
              <a:t> has ~360), WHY?</a:t>
            </a:r>
            <a:endParaRPr b="1" sz="3000">
              <a:solidFill>
                <a:schemeClr val="lt1"/>
              </a:solidFill>
            </a:endParaRPr>
          </a:p>
        </p:txBody>
      </p:sp>
      <p:sp>
        <p:nvSpPr>
          <p:cNvPr id="295" name="Google Shape;295;p46"/>
          <p:cNvSpPr txBox="1"/>
          <p:nvPr/>
        </p:nvSpPr>
        <p:spPr>
          <a:xfrm>
            <a:off x="1951600" y="4195175"/>
            <a:ext cx="6967500" cy="19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“Survivor Bias”</a:t>
            </a:r>
            <a:endParaRPr sz="70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296" name="Google Shape;29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7"/>
          <p:cNvSpPr txBox="1"/>
          <p:nvPr/>
        </p:nvSpPr>
        <p:spPr>
          <a:xfrm>
            <a:off x="583650" y="25894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Survivor Bias</a:t>
            </a:r>
            <a:r>
              <a:rPr lang="en-US" sz="4000">
                <a:solidFill>
                  <a:srgbClr val="BFBFBF"/>
                </a:solidFill>
              </a:rPr>
              <a:t> </a:t>
            </a:r>
            <a:endParaRPr sz="4000" strike="noStrike">
              <a:solidFill>
                <a:srgbClr val="BFBFBF"/>
              </a:solidFill>
            </a:endParaRPr>
          </a:p>
        </p:txBody>
      </p:sp>
      <p:sp>
        <p:nvSpPr>
          <p:cNvPr id="302" name="Google Shape;302;p47"/>
          <p:cNvSpPr txBox="1"/>
          <p:nvPr/>
        </p:nvSpPr>
        <p:spPr>
          <a:xfrm>
            <a:off x="583650" y="1003175"/>
            <a:ext cx="10305300" cy="5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303" name="Google Shape;30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50" y="2077252"/>
            <a:ext cx="10305300" cy="28712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304" name="Google Shape;30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7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20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8"/>
          <p:cNvSpPr txBox="1"/>
          <p:nvPr/>
        </p:nvSpPr>
        <p:spPr>
          <a:xfrm>
            <a:off x="164950" y="2212373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But its NOT ENOUGH!</a:t>
            </a:r>
            <a:r>
              <a:rPr lang="en-US" sz="7000">
                <a:solidFill>
                  <a:schemeClr val="lt1"/>
                </a:solidFill>
              </a:rPr>
              <a:t> 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311" name="Google Shape;311;p48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21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312" name="Google Shape;31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9"/>
          <p:cNvSpPr txBox="1"/>
          <p:nvPr/>
        </p:nvSpPr>
        <p:spPr>
          <a:xfrm>
            <a:off x="164950" y="26074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Version 2 </a:t>
            </a:r>
            <a:endParaRPr sz="7000" strike="noStrike">
              <a:solidFill>
                <a:schemeClr val="lt1"/>
              </a:solidFill>
            </a:endParaRPr>
          </a:p>
        </p:txBody>
      </p:sp>
      <p:sp>
        <p:nvSpPr>
          <p:cNvPr id="318" name="Google Shape;318;p49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22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National University of Computer and Emerging Sciences - Wikipedia" id="319" name="Google Shape;31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9"/>
          <p:cNvSpPr txBox="1"/>
          <p:nvPr/>
        </p:nvSpPr>
        <p:spPr>
          <a:xfrm>
            <a:off x="164950" y="1132200"/>
            <a:ext cx="11127900" cy="57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Constant Variables: 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Type of Traffic: Mix and Aggressive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Time Slots = {Early Morning, Afternoon, Evening}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Number of Vehicles per each direction = 10200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Strategy Set = {Red, Yellow, Green}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Number of player = 2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Changing Variables for Version 01: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No Sliplanes</a:t>
            </a:r>
            <a:endParaRPr sz="3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chemeClr val="lt1"/>
                </a:solidFill>
              </a:rPr>
              <a:t>Payoff = (α)QueueLength + (β)WaitingTime + (γ)ResidualVehicles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0"/>
          <p:cNvSpPr txBox="1"/>
          <p:nvPr/>
        </p:nvSpPr>
        <p:spPr>
          <a:xfrm>
            <a:off x="172350" y="1932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GT vs Base model Using</a:t>
            </a:r>
            <a:endParaRPr sz="4000">
              <a:solidFill>
                <a:srgbClr val="BFBFB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Real Payoff</a:t>
            </a:r>
            <a:endParaRPr sz="4000">
              <a:solidFill>
                <a:srgbClr val="BFBFBF"/>
              </a:solidFill>
            </a:endParaRPr>
          </a:p>
        </p:txBody>
      </p:sp>
      <p:sp>
        <p:nvSpPr>
          <p:cNvPr id="326" name="Google Shape;326;p5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23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50"/>
          <p:cNvSpPr txBox="1"/>
          <p:nvPr/>
        </p:nvSpPr>
        <p:spPr>
          <a:xfrm>
            <a:off x="583650" y="1003175"/>
            <a:ext cx="10305300" cy="5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328" name="Google Shape;328;p50" title="Base Real Pay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6688" y="1896988"/>
            <a:ext cx="3705225" cy="33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50" title="GT Real Payoff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0062" y="1540527"/>
            <a:ext cx="5189190" cy="494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0" title="Base Real Payof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100" y="1584090"/>
            <a:ext cx="5319375" cy="4854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331" name="Google Shape;33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606649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1"/>
          <p:cNvSpPr txBox="1"/>
          <p:nvPr/>
        </p:nvSpPr>
        <p:spPr>
          <a:xfrm>
            <a:off x="81150" y="7951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Gametheory at Work!</a:t>
            </a:r>
            <a:endParaRPr sz="4000">
              <a:solidFill>
                <a:srgbClr val="BFBFBF"/>
              </a:solidFill>
            </a:endParaRPr>
          </a:p>
        </p:txBody>
      </p:sp>
      <p:sp>
        <p:nvSpPr>
          <p:cNvPr id="337" name="Google Shape;337;p51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24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8" name="Google Shape;338;p51" title="10sec Payoff Chan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938" y="1702851"/>
            <a:ext cx="7366719" cy="471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339" name="Google Shape;33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2"/>
          <p:cNvSpPr txBox="1"/>
          <p:nvPr/>
        </p:nvSpPr>
        <p:spPr>
          <a:xfrm>
            <a:off x="172350" y="3756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GT vs Base model Using</a:t>
            </a:r>
            <a:endParaRPr sz="4000">
              <a:solidFill>
                <a:srgbClr val="BFBFB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Real Payoff</a:t>
            </a:r>
            <a:endParaRPr sz="4000">
              <a:solidFill>
                <a:srgbClr val="BFBFBF"/>
              </a:solidFill>
            </a:endParaRPr>
          </a:p>
        </p:txBody>
      </p:sp>
      <p:sp>
        <p:nvSpPr>
          <p:cNvPr id="345" name="Google Shape;345;p52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25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6" name="Google Shape;346;p52"/>
          <p:cNvSpPr txBox="1"/>
          <p:nvPr/>
        </p:nvSpPr>
        <p:spPr>
          <a:xfrm>
            <a:off x="583650" y="1003175"/>
            <a:ext cx="10305300" cy="51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</a:endParaRPr>
          </a:p>
        </p:txBody>
      </p:sp>
      <p:pic>
        <p:nvPicPr>
          <p:cNvPr id="347" name="Google Shape;347;p52" title="Base Real PO Spee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550" y="2498800"/>
            <a:ext cx="4515513" cy="271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2" title="GT Real PO Spee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2977" y="2498798"/>
            <a:ext cx="4458725" cy="2717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349" name="Google Shape;349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3"/>
          <p:cNvSpPr txBox="1"/>
          <p:nvPr/>
        </p:nvSpPr>
        <p:spPr>
          <a:xfrm>
            <a:off x="172350" y="375698"/>
            <a:ext cx="11127900" cy="17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GT vs Base model Using</a:t>
            </a:r>
            <a:endParaRPr sz="4000">
              <a:solidFill>
                <a:srgbClr val="BFBFB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BFBFBF"/>
                </a:solidFill>
              </a:rPr>
              <a:t>Real Payoff</a:t>
            </a:r>
            <a:endParaRPr sz="4000">
              <a:solidFill>
                <a:srgbClr val="BFBFBF"/>
              </a:solidFill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BFBFBF"/>
                </a:solidFill>
              </a:rPr>
              <a:t>Throughput</a:t>
            </a:r>
            <a:endParaRPr b="1" sz="4000">
              <a:solidFill>
                <a:srgbClr val="BFBFBF"/>
              </a:solidFill>
            </a:endParaRPr>
          </a:p>
        </p:txBody>
      </p:sp>
      <p:sp>
        <p:nvSpPr>
          <p:cNvPr id="355" name="Google Shape;355;p53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26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6" name="Google Shape;356;p53" title="Base Real PO Through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50" y="2444075"/>
            <a:ext cx="4947399" cy="249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3" title="GT Real PO Throughp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6603" y="2444075"/>
            <a:ext cx="4984597" cy="24922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ational University of Computer and Emerging Sciences - Wikipedia" id="358" name="Google Shape;35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27</a:t>
            </a:r>
            <a:endParaRPr b="0" sz="36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4" name="Google Shape;364;p54" title="Base Real PO Avg WaitTim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7775"/>
            <a:ext cx="7214392" cy="357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54" title="GT Real PO Avg WaitTi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5829" y="3278451"/>
            <a:ext cx="6787025" cy="3579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54"/>
          <p:cNvSpPr txBox="1"/>
          <p:nvPr/>
        </p:nvSpPr>
        <p:spPr>
          <a:xfrm>
            <a:off x="164150" y="3957950"/>
            <a:ext cx="4104000" cy="26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999999"/>
                </a:solidFill>
              </a:rPr>
              <a:t>Avg Wait Time</a:t>
            </a:r>
            <a:endParaRPr sz="5000">
              <a:solidFill>
                <a:srgbClr val="999999"/>
              </a:solidFill>
            </a:endParaRPr>
          </a:p>
        </p:txBody>
      </p:sp>
      <p:pic>
        <p:nvPicPr>
          <p:cNvPr descr="National University of Computer and Emerging Sciences - Wikipedia" id="367" name="Google Shape;36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28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406200" y="1464525"/>
            <a:ext cx="10019700" cy="5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</a:rPr>
              <a:t>Game Theory beat Fixed Timed Signals by half!!!</a:t>
            </a:r>
            <a:endParaRPr b="1" sz="70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374" name="Google Shape;37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/>
        </p:nvSpPr>
        <p:spPr>
          <a:xfrm>
            <a:off x="11292840" y="6172200"/>
            <a:ext cx="912600" cy="5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29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0" name="Google Shape;380;p56"/>
          <p:cNvSpPr/>
          <p:nvPr/>
        </p:nvSpPr>
        <p:spPr>
          <a:xfrm>
            <a:off x="594365" y="205410"/>
            <a:ext cx="96909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en-US" sz="4000">
                <a:solidFill>
                  <a:schemeClr val="lt1"/>
                </a:solidFill>
              </a:rPr>
              <a:t>App Prototype</a:t>
            </a:r>
            <a:endParaRPr b="0" sz="40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381" name="Google Shape;38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6" title="WhatsApp Image 2026-03-04 at 1.39.17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500" y="1356790"/>
            <a:ext cx="10046661" cy="4959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7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30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88" name="Google Shape;388;p57"/>
          <p:cNvSpPr/>
          <p:nvPr/>
        </p:nvSpPr>
        <p:spPr>
          <a:xfrm>
            <a:off x="594365" y="205410"/>
            <a:ext cx="96909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</a:t>
            </a:r>
            <a:r>
              <a:rPr lang="en-US" sz="4000">
                <a:solidFill>
                  <a:schemeClr val="lt1"/>
                </a:solidFill>
              </a:rPr>
              <a:t>App Prototype</a:t>
            </a:r>
            <a:endParaRPr b="0" sz="40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389" name="Google Shape;38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57" title="WhatsApp Image 2026-03-04 at 1.39.18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46474"/>
            <a:ext cx="11007424" cy="337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31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396" name="Google Shape;396;p58"/>
          <p:cNvSpPr/>
          <p:nvPr/>
        </p:nvSpPr>
        <p:spPr>
          <a:xfrm>
            <a:off x="594365" y="205410"/>
            <a:ext cx="96909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Project Planning</a:t>
            </a:r>
            <a:endParaRPr b="0" sz="40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8"/>
          <p:cNvSpPr txBox="1"/>
          <p:nvPr/>
        </p:nvSpPr>
        <p:spPr>
          <a:xfrm>
            <a:off x="4815200" y="6266835"/>
            <a:ext cx="3576300" cy="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Fig: Gantt Chart</a:t>
            </a:r>
            <a:endParaRPr b="0" sz="1800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ational University of Computer and Emerging Sciences - Wikipedia" id="398" name="Google Shape;398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58" title="WhatsApp Image 2026-03-04 at 1.48.49 A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500" y="1301129"/>
            <a:ext cx="7588650" cy="4703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9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32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05" name="Google Shape;405;p59"/>
          <p:cNvSpPr txBox="1"/>
          <p:nvPr/>
        </p:nvSpPr>
        <p:spPr>
          <a:xfrm>
            <a:off x="512900" y="376100"/>
            <a:ext cx="55686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lt1"/>
                </a:solidFill>
              </a:rPr>
              <a:t>References</a:t>
            </a:r>
            <a:endParaRPr b="1" sz="2500">
              <a:solidFill>
                <a:schemeClr val="lt1"/>
              </a:solidFill>
            </a:endParaRPr>
          </a:p>
        </p:txBody>
      </p:sp>
      <p:sp>
        <p:nvSpPr>
          <p:cNvPr id="406" name="Google Shape;406;p59"/>
          <p:cNvSpPr txBox="1"/>
          <p:nvPr/>
        </p:nvSpPr>
        <p:spPr>
          <a:xfrm>
            <a:off x="512900" y="935600"/>
            <a:ext cx="10166100" cy="39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Game Theory: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Zaied et al. (2019)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Sensors</a:t>
            </a:r>
            <a:r>
              <a:rPr lang="en-US" sz="2200">
                <a:solidFill>
                  <a:schemeClr val="lt1"/>
                </a:solidFill>
              </a:rPr>
              <a:t> - 457 intersections, Los Angeles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Wang et al. (2023)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Applied Sciences</a:t>
            </a:r>
            <a:r>
              <a:rPr lang="en-US" sz="2200">
                <a:solidFill>
                  <a:schemeClr val="lt1"/>
                </a:solidFill>
              </a:rPr>
              <a:t> - Queue equilibrium control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Stevanovic et al. (2009)</a:t>
            </a:r>
            <a:r>
              <a:rPr lang="en-US" sz="2200">
                <a:solidFill>
                  <a:schemeClr val="lt1"/>
                </a:solidFill>
              </a:rPr>
              <a:t> - SCOOT/SCATS deployment review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/>
            </a:pPr>
            <a:r>
              <a:rPr b="1" lang="en-US" sz="2200">
                <a:solidFill>
                  <a:schemeClr val="lt1"/>
                </a:solidFill>
              </a:rPr>
              <a:t>TRL Software (2024)</a:t>
            </a:r>
            <a:r>
              <a:rPr lang="en-US" sz="2200">
                <a:solidFill>
                  <a:schemeClr val="lt1"/>
                </a:solidFill>
              </a:rPr>
              <a:t> - SCOOT: 350+ cities worldwide 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Reinforcement Learning: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5"/>
            </a:pPr>
            <a:r>
              <a:rPr b="1" lang="en-US" sz="2200">
                <a:solidFill>
                  <a:schemeClr val="lt1"/>
                </a:solidFill>
              </a:rPr>
              <a:t>Chen et al. (2022)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arXiv</a:t>
            </a:r>
            <a:r>
              <a:rPr lang="en-US" sz="2200">
                <a:solidFill>
                  <a:schemeClr val="lt1"/>
                </a:solidFill>
              </a:rPr>
              <a:t> - Comprehensive review</a:t>
            </a:r>
            <a:endParaRPr sz="2200">
              <a:solidFill>
                <a:schemeClr val="lt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</a:pPr>
            <a:r>
              <a:rPr b="1" lang="en-US" sz="2200">
                <a:solidFill>
                  <a:schemeClr val="lt1"/>
                </a:solidFill>
              </a:rPr>
              <a:t>Key Finding:</a:t>
            </a:r>
            <a:r>
              <a:rPr lang="en-US" sz="2200">
                <a:solidFill>
                  <a:schemeClr val="lt1"/>
                </a:solidFill>
              </a:rPr>
              <a:t> </a:t>
            </a:r>
            <a:r>
              <a:rPr i="1" lang="en-US" sz="2200">
                <a:solidFill>
                  <a:schemeClr val="lt1"/>
                </a:solidFill>
              </a:rPr>
              <a:t>"RL-based signal controllers have never been deployed"</a:t>
            </a:r>
            <a:r>
              <a:rPr lang="en-US" sz="2200">
                <a:solidFill>
                  <a:schemeClr val="lt1"/>
                </a:solidFill>
              </a:rPr>
              <a:t> </a:t>
            </a:r>
            <a:endParaRPr sz="2200">
              <a:solidFill>
                <a:schemeClr val="lt1"/>
              </a:solidFill>
            </a:endParaRPr>
          </a:p>
          <a:p>
            <a:pPr indent="-3683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○"/>
            </a:pPr>
            <a:r>
              <a:rPr lang="en-US" sz="2200">
                <a:solidFill>
                  <a:schemeClr val="lt1"/>
                </a:solidFill>
              </a:rPr>
              <a:t>Identifies 4 insurmountable deployment barriers</a:t>
            </a:r>
            <a:endParaRPr sz="2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lt1"/>
                </a:solidFill>
              </a:rPr>
              <a:t>Genetic Algorithms:</a:t>
            </a:r>
            <a:endParaRPr b="1" sz="24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6"/>
            </a:pPr>
            <a:r>
              <a:rPr b="1" lang="en-US" sz="2200">
                <a:solidFill>
                  <a:schemeClr val="lt1"/>
                </a:solidFill>
              </a:rPr>
              <a:t>Brazilian NSGA2 Study</a:t>
            </a:r>
            <a:r>
              <a:rPr lang="en-US" sz="2200">
                <a:solidFill>
                  <a:schemeClr val="lt1"/>
                </a:solidFill>
              </a:rPr>
              <a:t> - </a:t>
            </a:r>
            <a:r>
              <a:rPr i="1" lang="en-US" sz="2200">
                <a:solidFill>
                  <a:schemeClr val="lt1"/>
                </a:solidFill>
              </a:rPr>
              <a:t>"No way to perform feedback in real world"</a:t>
            </a:r>
            <a:r>
              <a:rPr lang="en-US" sz="2200">
                <a:solidFill>
                  <a:schemeClr val="lt1"/>
                </a:solidFill>
              </a:rPr>
              <a:t> </a:t>
            </a:r>
            <a:endParaRPr sz="2200">
              <a:solidFill>
                <a:schemeClr val="lt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rabicPeriod" startAt="6"/>
            </a:pPr>
            <a:r>
              <a:rPr lang="en-US" sz="2200">
                <a:solidFill>
                  <a:schemeClr val="lt1"/>
                </a:solidFill>
              </a:rPr>
              <a:t>Multiple IEEE/ACM papers (2000-2020) - All simulation-based </a:t>
            </a:r>
            <a:endParaRPr i="1" sz="35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407" name="Google Shape;40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0"/>
          <p:cNvSpPr txBox="1"/>
          <p:nvPr/>
        </p:nvSpPr>
        <p:spPr>
          <a:xfrm>
            <a:off x="11292840" y="6172200"/>
            <a:ext cx="9126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45700" spcFirstLastPara="1" rIns="457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8E8E94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33</a:t>
            </a:r>
            <a:endParaRPr b="0" sz="3600" strike="noStrike">
              <a:solidFill>
                <a:srgbClr val="8E8E94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413" name="Google Shape;413;p60"/>
          <p:cNvSpPr txBox="1"/>
          <p:nvPr/>
        </p:nvSpPr>
        <p:spPr>
          <a:xfrm>
            <a:off x="3004050" y="2857500"/>
            <a:ext cx="5568600" cy="13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000">
                <a:solidFill>
                  <a:schemeClr val="lt1"/>
                </a:solidFill>
              </a:rPr>
              <a:t>Thank You!</a:t>
            </a:r>
            <a:endParaRPr b="1" sz="7000">
              <a:solidFill>
                <a:schemeClr val="lt1"/>
              </a:solidFill>
            </a:endParaRPr>
          </a:p>
        </p:txBody>
      </p:sp>
      <p:pic>
        <p:nvPicPr>
          <p:cNvPr descr="National University of Computer and Emerging Sciences - Wikipedia" id="414" name="Google Shape;41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8410" y="123465"/>
            <a:ext cx="1470600" cy="147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